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0B8301-12E5-408D-8906-869965E34E52}" v="9" dt="2026-07-27T18:56:40.7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divhuwo Makhavhu" userId="1c734cc42baaaa4a" providerId="LiveId" clId="{6FD7453C-6F45-4F56-ACAC-C70A8D2ABAEA}"/>
    <pc:docChg chg="undo custSel modSld">
      <pc:chgData name="Ndivhuwo Makhavhu" userId="1c734cc42baaaa4a" providerId="LiveId" clId="{6FD7453C-6F45-4F56-ACAC-C70A8D2ABAEA}" dt="2026-07-27T21:11:41.527" v="549" actId="20577"/>
      <pc:docMkLst>
        <pc:docMk/>
      </pc:docMkLst>
      <pc:sldChg chg="modSp mod">
        <pc:chgData name="Ndivhuwo Makhavhu" userId="1c734cc42baaaa4a" providerId="LiveId" clId="{6FD7453C-6F45-4F56-ACAC-C70A8D2ABAEA}" dt="2026-07-27T18:50:08.103" v="0" actId="6549"/>
        <pc:sldMkLst>
          <pc:docMk/>
          <pc:sldMk cId="0" sldId="256"/>
        </pc:sldMkLst>
        <pc:spChg chg="mod">
          <ac:chgData name="Ndivhuwo Makhavhu" userId="1c734cc42baaaa4a" providerId="LiveId" clId="{6FD7453C-6F45-4F56-ACAC-C70A8D2ABAEA}" dt="2026-07-27T18:50:08.103" v="0" actId="6549"/>
          <ac:spMkLst>
            <pc:docMk/>
            <pc:sldMk cId="0" sldId="256"/>
            <ac:spMk id="17" creationId="{00000000-0000-0000-0000-000000000000}"/>
          </ac:spMkLst>
        </pc:spChg>
      </pc:sldChg>
      <pc:sldChg chg="modSp mod">
        <pc:chgData name="Ndivhuwo Makhavhu" userId="1c734cc42baaaa4a" providerId="LiveId" clId="{6FD7453C-6F45-4F56-ACAC-C70A8D2ABAEA}" dt="2026-07-27T19:05:22.287" v="366" actId="20577"/>
        <pc:sldMkLst>
          <pc:docMk/>
          <pc:sldMk cId="0" sldId="257"/>
        </pc:sldMkLst>
        <pc:spChg chg="mod">
          <ac:chgData name="Ndivhuwo Makhavhu" userId="1c734cc42baaaa4a" providerId="LiveId" clId="{6FD7453C-6F45-4F56-ACAC-C70A8D2ABAEA}" dt="2026-07-27T18:50:43.122" v="3" actId="20577"/>
          <ac:spMkLst>
            <pc:docMk/>
            <pc:sldMk cId="0" sldId="257"/>
            <ac:spMk id="3" creationId="{00000000-0000-0000-0000-000000000000}"/>
          </ac:spMkLst>
        </pc:spChg>
        <pc:spChg chg="mod">
          <ac:chgData name="Ndivhuwo Makhavhu" userId="1c734cc42baaaa4a" providerId="LiveId" clId="{6FD7453C-6F45-4F56-ACAC-C70A8D2ABAEA}" dt="2026-07-27T18:57:46.851" v="144" actId="1036"/>
          <ac:spMkLst>
            <pc:docMk/>
            <pc:sldMk cId="0" sldId="257"/>
            <ac:spMk id="8" creationId="{00000000-0000-0000-0000-000000000000}"/>
          </ac:spMkLst>
        </pc:spChg>
        <pc:spChg chg="mod">
          <ac:chgData name="Ndivhuwo Makhavhu" userId="1c734cc42baaaa4a" providerId="LiveId" clId="{6FD7453C-6F45-4F56-ACAC-C70A8D2ABAEA}" dt="2026-07-27T18:57:19.517" v="138" actId="1036"/>
          <ac:spMkLst>
            <pc:docMk/>
            <pc:sldMk cId="0" sldId="257"/>
            <ac:spMk id="9" creationId="{00000000-0000-0000-0000-000000000000}"/>
          </ac:spMkLst>
        </pc:spChg>
        <pc:spChg chg="mod">
          <ac:chgData name="Ndivhuwo Makhavhu" userId="1c734cc42baaaa4a" providerId="LiveId" clId="{6FD7453C-6F45-4F56-ACAC-C70A8D2ABAEA}" dt="2026-07-27T18:58:54.295" v="175" actId="20577"/>
          <ac:spMkLst>
            <pc:docMk/>
            <pc:sldMk cId="0" sldId="257"/>
            <ac:spMk id="15" creationId="{00000000-0000-0000-0000-000000000000}"/>
          </ac:spMkLst>
        </pc:spChg>
        <pc:spChg chg="mod">
          <ac:chgData name="Ndivhuwo Makhavhu" userId="1c734cc42baaaa4a" providerId="LiveId" clId="{6FD7453C-6F45-4F56-ACAC-C70A8D2ABAEA}" dt="2026-07-27T19:04:08.448" v="294" actId="20577"/>
          <ac:spMkLst>
            <pc:docMk/>
            <pc:sldMk cId="0" sldId="257"/>
            <ac:spMk id="16" creationId="{00000000-0000-0000-0000-000000000000}"/>
          </ac:spMkLst>
        </pc:spChg>
        <pc:spChg chg="mod">
          <ac:chgData name="Ndivhuwo Makhavhu" userId="1c734cc42baaaa4a" providerId="LiveId" clId="{6FD7453C-6F45-4F56-ACAC-C70A8D2ABAEA}" dt="2026-07-27T18:59:24.267" v="190" actId="1076"/>
          <ac:spMkLst>
            <pc:docMk/>
            <pc:sldMk cId="0" sldId="257"/>
            <ac:spMk id="22" creationId="{00000000-0000-0000-0000-000000000000}"/>
          </ac:spMkLst>
        </pc:spChg>
        <pc:spChg chg="mod">
          <ac:chgData name="Ndivhuwo Makhavhu" userId="1c734cc42baaaa4a" providerId="LiveId" clId="{6FD7453C-6F45-4F56-ACAC-C70A8D2ABAEA}" dt="2026-07-27T19:05:22.287" v="366" actId="20577"/>
          <ac:spMkLst>
            <pc:docMk/>
            <pc:sldMk cId="0" sldId="257"/>
            <ac:spMk id="23" creationId="{00000000-0000-0000-0000-000000000000}"/>
          </ac:spMkLst>
        </pc:spChg>
      </pc:sldChg>
      <pc:sldChg chg="modSp mod">
        <pc:chgData name="Ndivhuwo Makhavhu" userId="1c734cc42baaaa4a" providerId="LiveId" clId="{6FD7453C-6F45-4F56-ACAC-C70A8D2ABAEA}" dt="2026-07-27T21:10:13.752" v="526" actId="1035"/>
        <pc:sldMkLst>
          <pc:docMk/>
          <pc:sldMk cId="0" sldId="258"/>
        </pc:sldMkLst>
        <pc:spChg chg="mod">
          <ac:chgData name="Ndivhuwo Makhavhu" userId="1c734cc42baaaa4a" providerId="LiveId" clId="{6FD7453C-6F45-4F56-ACAC-C70A8D2ABAEA}" dt="2026-07-27T21:10:13.752" v="526" actId="1035"/>
          <ac:spMkLst>
            <pc:docMk/>
            <pc:sldMk cId="0" sldId="258"/>
            <ac:spMk id="3" creationId="{00000000-0000-0000-0000-000000000000}"/>
          </ac:spMkLst>
        </pc:spChg>
        <pc:spChg chg="mod">
          <ac:chgData name="Ndivhuwo Makhavhu" userId="1c734cc42baaaa4a" providerId="LiveId" clId="{6FD7453C-6F45-4F56-ACAC-C70A8D2ABAEA}" dt="2026-07-27T20:57:10.610" v="406" actId="20577"/>
          <ac:spMkLst>
            <pc:docMk/>
            <pc:sldMk cId="0" sldId="258"/>
            <ac:spMk id="21" creationId="{00000000-0000-0000-0000-000000000000}"/>
          </ac:spMkLst>
        </pc:spChg>
        <pc:spChg chg="mod">
          <ac:chgData name="Ndivhuwo Makhavhu" userId="1c734cc42baaaa4a" providerId="LiveId" clId="{6FD7453C-6F45-4F56-ACAC-C70A8D2ABAEA}" dt="2026-07-27T19:21:08.494" v="386" actId="20577"/>
          <ac:spMkLst>
            <pc:docMk/>
            <pc:sldMk cId="0" sldId="258"/>
            <ac:spMk id="32" creationId="{00000000-0000-0000-0000-000000000000}"/>
          </ac:spMkLst>
        </pc:spChg>
        <pc:spChg chg="mod">
          <ac:chgData name="Ndivhuwo Makhavhu" userId="1c734cc42baaaa4a" providerId="LiveId" clId="{6FD7453C-6F45-4F56-ACAC-C70A8D2ABAEA}" dt="2026-07-27T19:21:04.379" v="382" actId="20577"/>
          <ac:spMkLst>
            <pc:docMk/>
            <pc:sldMk cId="0" sldId="258"/>
            <ac:spMk id="35" creationId="{00000000-0000-0000-0000-000000000000}"/>
          </ac:spMkLst>
        </pc:spChg>
        <pc:spChg chg="mod">
          <ac:chgData name="Ndivhuwo Makhavhu" userId="1c734cc42baaaa4a" providerId="LiveId" clId="{6FD7453C-6F45-4F56-ACAC-C70A8D2ABAEA}" dt="2026-07-27T19:19:14.935" v="368" actId="20577"/>
          <ac:spMkLst>
            <pc:docMk/>
            <pc:sldMk cId="0" sldId="258"/>
            <ac:spMk id="38" creationId="{00000000-0000-0000-0000-000000000000}"/>
          </ac:spMkLst>
        </pc:spChg>
        <pc:spChg chg="mod">
          <ac:chgData name="Ndivhuwo Makhavhu" userId="1c734cc42baaaa4a" providerId="LiveId" clId="{6FD7453C-6F45-4F56-ACAC-C70A8D2ABAEA}" dt="2026-07-27T21:09:54.576" v="507" actId="20577"/>
          <ac:spMkLst>
            <pc:docMk/>
            <pc:sldMk cId="0" sldId="258"/>
            <ac:spMk id="40" creationId="{00000000-0000-0000-0000-000000000000}"/>
          </ac:spMkLst>
        </pc:spChg>
      </pc:sldChg>
      <pc:sldChg chg="modSp mod">
        <pc:chgData name="Ndivhuwo Makhavhu" userId="1c734cc42baaaa4a" providerId="LiveId" clId="{6FD7453C-6F45-4F56-ACAC-C70A8D2ABAEA}" dt="2026-07-27T21:10:50.747" v="544" actId="20577"/>
        <pc:sldMkLst>
          <pc:docMk/>
          <pc:sldMk cId="0" sldId="259"/>
        </pc:sldMkLst>
        <pc:spChg chg="mod">
          <ac:chgData name="Ndivhuwo Makhavhu" userId="1c734cc42baaaa4a" providerId="LiveId" clId="{6FD7453C-6F45-4F56-ACAC-C70A8D2ABAEA}" dt="2026-07-27T21:10:37.035" v="530" actId="20577"/>
          <ac:spMkLst>
            <pc:docMk/>
            <pc:sldMk cId="0" sldId="259"/>
            <ac:spMk id="5" creationId="{00000000-0000-0000-0000-000000000000}"/>
          </ac:spMkLst>
        </pc:spChg>
        <pc:spChg chg="mod">
          <ac:chgData name="Ndivhuwo Makhavhu" userId="1c734cc42baaaa4a" providerId="LiveId" clId="{6FD7453C-6F45-4F56-ACAC-C70A8D2ABAEA}" dt="2026-07-27T21:10:50.747" v="544" actId="20577"/>
          <ac:spMkLst>
            <pc:docMk/>
            <pc:sldMk cId="0" sldId="259"/>
            <ac:spMk id="10" creationId="{00000000-0000-0000-0000-000000000000}"/>
          </ac:spMkLst>
        </pc:spChg>
        <pc:picChg chg="mod">
          <ac:chgData name="Ndivhuwo Makhavhu" userId="1c734cc42baaaa4a" providerId="LiveId" clId="{6FD7453C-6F45-4F56-ACAC-C70A8D2ABAEA}" dt="2026-07-27T21:10:21.117" v="527" actId="14100"/>
          <ac:picMkLst>
            <pc:docMk/>
            <pc:sldMk cId="0" sldId="259"/>
            <ac:picMk id="4" creationId="{00000000-0000-0000-0000-000000000000}"/>
          </ac:picMkLst>
        </pc:picChg>
      </pc:sldChg>
      <pc:sldChg chg="modSp mod">
        <pc:chgData name="Ndivhuwo Makhavhu" userId="1c734cc42baaaa4a" providerId="LiveId" clId="{6FD7453C-6F45-4F56-ACAC-C70A8D2ABAEA}" dt="2026-07-27T21:11:41.527" v="549" actId="20577"/>
        <pc:sldMkLst>
          <pc:docMk/>
          <pc:sldMk cId="0" sldId="267"/>
        </pc:sldMkLst>
        <pc:spChg chg="mod">
          <ac:chgData name="Ndivhuwo Makhavhu" userId="1c734cc42baaaa4a" providerId="LiveId" clId="{6FD7453C-6F45-4F56-ACAC-C70A8D2ABAEA}" dt="2026-07-27T21:11:41.527" v="549" actId="20577"/>
          <ac:spMkLst>
            <pc:docMk/>
            <pc:sldMk cId="0" sldId="267"/>
            <ac:spMk id="2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9667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1,116 unique businesses from 1,186 raw applications. Every figure on this deck traces back to the scored segmentation output.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 tier carries the largest absolute job promise (11,751), slightly ahead of High (11,436). High is the most credible deliverer; Mid is the largest.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Percentages: High 21.95%, Mid 53.32%, Low 24.73%.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ask per business: High R13.2m, Mid R4.5m, Low R15.9m. The Low tier asks more per business than the High tier while earning 40% of what High earns.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per promised job = tier total ask divided by tier total anticipated jobs. This is the sharpest efficiency argument in the deck: the Mid tier converts capital into promised jobs more efficiently than any other tier.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Wording on this slide comes from the scored data: High-tier applications occur in all fourteen months, peak at 70 in October 2025, and hold a 17-28% share of monthly volume throughout. The chart shown is the Power BI dashboard visual and does not yet reflect this - it joins the segmentation output (no date field) to the cleaned data on company name, which is not unique, so it plots each month’s total against a single tier. The dashboard visual needs rebuilding.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 is the investor-ready shortlist; 90 (2023 pilot) and 190 (2024) were matches actually made — related figures, but not the same measure. Average ask R13.2m against average revenue R16.5m.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 carries the largest absolute job promise of any tier, ahead of High. Mid jobs multiple is 4.4x its current headcount; treat the promise as ambitious but the capital efficiency as real.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Low tier holds 42.7% of the total capital ask but only 12.5% of the promised jobs. Cost per promised job is R1.33m, versus R283k in High and R226k in Mid.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mandate-matching point: the segmentation lets a funder self-select into the tier that fits its mandate, rather than the SME team guessing.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1325880"/>
            <a:ext cx="10515600" cy="411480"/>
          </a:xfrm>
          <a:prstGeom prst="rect">
            <a:avLst/>
          </a:prstGeom>
          <a:noFill/>
          <a:ln/>
        </p:spPr>
        <p:txBody>
          <a:bodyPr wrap="square" lIns="0" tIns="0" rIns="0" bIns="0" rtlCol="0" anchor="ctr"/>
          <a:lstStyle/>
          <a:p>
            <a:pPr marL="0" indent="0">
              <a:buNone/>
            </a:pPr>
            <a:r>
              <a:rPr lang="en-US" sz="1500" b="1" kern="0" spc="300" dirty="0">
                <a:solidFill>
                  <a:srgbClr val="2DD4BF"/>
                </a:solidFill>
                <a:latin typeface="Calibri" pitchFamily="34" charset="0"/>
                <a:ea typeface="Calibri" pitchFamily="34" charset="-122"/>
                <a:cs typeface="Calibri" pitchFamily="34" charset="-120"/>
              </a:rPr>
              <a:t>JSE SME CAPITAL MATCHING INITIATIVE</a:t>
            </a:r>
            <a:endParaRPr lang="en-US" sz="1500" dirty="0"/>
          </a:p>
        </p:txBody>
      </p:sp>
      <p:sp>
        <p:nvSpPr>
          <p:cNvPr id="3" name="Text 1"/>
          <p:cNvSpPr/>
          <p:nvPr/>
        </p:nvSpPr>
        <p:spPr>
          <a:xfrm>
            <a:off x="795528" y="1783080"/>
            <a:ext cx="10607040" cy="105156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Funding Readiness Insights</a:t>
            </a:r>
            <a:endParaRPr lang="en-US" sz="5200" dirty="0"/>
          </a:p>
        </p:txBody>
      </p:sp>
      <p:sp>
        <p:nvSpPr>
          <p:cNvPr id="4" name="Text 2"/>
          <p:cNvSpPr/>
          <p:nvPr/>
        </p:nvSpPr>
        <p:spPr>
          <a:xfrm>
            <a:off x="822960" y="2926080"/>
            <a:ext cx="9601200" cy="457200"/>
          </a:xfrm>
          <a:prstGeom prst="rect">
            <a:avLst/>
          </a:prstGeom>
          <a:noFill/>
          <a:ln/>
        </p:spPr>
        <p:txBody>
          <a:bodyPr wrap="square" lIns="0" tIns="0" rIns="0" bIns="0" rtlCol="0" anchor="ctr"/>
          <a:lstStyle/>
          <a:p>
            <a:pPr marL="0" indent="0">
              <a:buNone/>
            </a:pPr>
            <a:r>
              <a:rPr lang="en-US" sz="1600" dirty="0">
                <a:solidFill>
                  <a:srgbClr val="94A3B8"/>
                </a:solidFill>
                <a:latin typeface="Calibri" pitchFamily="34" charset="0"/>
                <a:ea typeface="Calibri" pitchFamily="34" charset="-122"/>
                <a:cs typeface="Calibri" pitchFamily="34" charset="-120"/>
              </a:rPr>
              <a:t>Segmentation findings, tier-by-tier actions, and the case for capital partners</a:t>
            </a:r>
            <a:endParaRPr lang="en-US" sz="1600" dirty="0"/>
          </a:p>
        </p:txBody>
      </p:sp>
      <p:sp>
        <p:nvSpPr>
          <p:cNvPr id="5" name="Shape 3"/>
          <p:cNvSpPr/>
          <p:nvPr/>
        </p:nvSpPr>
        <p:spPr>
          <a:xfrm>
            <a:off x="822960" y="3886200"/>
            <a:ext cx="2514600" cy="1417320"/>
          </a:xfrm>
          <a:prstGeom prst="roundRect">
            <a:avLst>
              <a:gd name="adj" fmla="val 5161"/>
            </a:avLst>
          </a:prstGeom>
          <a:solidFill>
            <a:srgbClr val="0F1B2E"/>
          </a:solidFill>
          <a:ln w="12700">
            <a:solidFill>
              <a:srgbClr val="334155"/>
            </a:solidFill>
            <a:prstDash val="solid"/>
          </a:ln>
        </p:spPr>
        <p:txBody>
          <a:bodyPr/>
          <a:lstStyle/>
          <a:p>
            <a:endParaRPr lang="en-US"/>
          </a:p>
        </p:txBody>
      </p:sp>
      <p:sp>
        <p:nvSpPr>
          <p:cNvPr id="6" name="Text 4"/>
          <p:cNvSpPr/>
          <p:nvPr/>
        </p:nvSpPr>
        <p:spPr>
          <a:xfrm>
            <a:off x="1051560" y="4114800"/>
            <a:ext cx="210312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1,116</a:t>
            </a:r>
            <a:endParaRPr lang="en-US" sz="3000" dirty="0"/>
          </a:p>
        </p:txBody>
      </p:sp>
      <p:sp>
        <p:nvSpPr>
          <p:cNvPr id="7" name="Text 5"/>
          <p:cNvSpPr/>
          <p:nvPr/>
        </p:nvSpPr>
        <p:spPr>
          <a:xfrm>
            <a:off x="1051560" y="4700016"/>
            <a:ext cx="2148840" cy="45720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SMEs scored and ranked</a:t>
            </a:r>
            <a:endParaRPr lang="en-US" sz="1150" dirty="0"/>
          </a:p>
        </p:txBody>
      </p:sp>
      <p:sp>
        <p:nvSpPr>
          <p:cNvPr id="8" name="Shape 6"/>
          <p:cNvSpPr/>
          <p:nvPr/>
        </p:nvSpPr>
        <p:spPr>
          <a:xfrm>
            <a:off x="3566160" y="3886200"/>
            <a:ext cx="2514600" cy="1417320"/>
          </a:xfrm>
          <a:prstGeom prst="roundRect">
            <a:avLst>
              <a:gd name="adj" fmla="val 5161"/>
            </a:avLst>
          </a:prstGeom>
          <a:solidFill>
            <a:srgbClr val="0F1B2E"/>
          </a:solidFill>
          <a:ln w="12700">
            <a:solidFill>
              <a:srgbClr val="334155"/>
            </a:solidFill>
            <a:prstDash val="solid"/>
          </a:ln>
        </p:spPr>
        <p:txBody>
          <a:bodyPr/>
          <a:lstStyle/>
          <a:p>
            <a:endParaRPr lang="en-US"/>
          </a:p>
        </p:txBody>
      </p:sp>
      <p:sp>
        <p:nvSpPr>
          <p:cNvPr id="9" name="Text 7"/>
          <p:cNvSpPr/>
          <p:nvPr/>
        </p:nvSpPr>
        <p:spPr>
          <a:xfrm>
            <a:off x="3794760" y="4114800"/>
            <a:ext cx="2103120" cy="548640"/>
          </a:xfrm>
          <a:prstGeom prst="rect">
            <a:avLst/>
          </a:prstGeom>
          <a:noFill/>
          <a:ln/>
        </p:spPr>
        <p:txBody>
          <a:bodyPr wrap="square" lIns="0" tIns="0" rIns="0" bIns="0" rtlCol="0" anchor="ctr"/>
          <a:lstStyle/>
          <a:p>
            <a:pPr marL="0" indent="0">
              <a:buNone/>
            </a:pPr>
            <a:r>
              <a:rPr lang="en-US" sz="3000" b="1" dirty="0">
                <a:solidFill>
                  <a:srgbClr val="2DD4BF"/>
                </a:solidFill>
                <a:latin typeface="Cambria" pitchFamily="34" charset="0"/>
                <a:ea typeface="Cambria" pitchFamily="34" charset="-122"/>
                <a:cs typeface="Cambria" pitchFamily="34" charset="-120"/>
              </a:rPr>
              <a:t>245</a:t>
            </a:r>
            <a:endParaRPr lang="en-US" sz="3000" dirty="0"/>
          </a:p>
        </p:txBody>
      </p:sp>
      <p:sp>
        <p:nvSpPr>
          <p:cNvPr id="10" name="Text 8"/>
          <p:cNvSpPr/>
          <p:nvPr/>
        </p:nvSpPr>
        <p:spPr>
          <a:xfrm>
            <a:off x="3794760" y="4700016"/>
            <a:ext cx="2148840" cy="45720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Investor-ready, High tier</a:t>
            </a:r>
            <a:endParaRPr lang="en-US" sz="1150" dirty="0"/>
          </a:p>
        </p:txBody>
      </p:sp>
      <p:sp>
        <p:nvSpPr>
          <p:cNvPr id="11" name="Shape 9"/>
          <p:cNvSpPr/>
          <p:nvPr/>
        </p:nvSpPr>
        <p:spPr>
          <a:xfrm>
            <a:off x="6309360" y="3886200"/>
            <a:ext cx="2514600" cy="1417320"/>
          </a:xfrm>
          <a:prstGeom prst="roundRect">
            <a:avLst>
              <a:gd name="adj" fmla="val 5161"/>
            </a:avLst>
          </a:prstGeom>
          <a:solidFill>
            <a:srgbClr val="0F1B2E"/>
          </a:solidFill>
          <a:ln w="12700">
            <a:solidFill>
              <a:srgbClr val="334155"/>
            </a:solidFill>
            <a:prstDash val="solid"/>
          </a:ln>
        </p:spPr>
        <p:txBody>
          <a:bodyPr/>
          <a:lstStyle/>
          <a:p>
            <a:endParaRPr lang="en-US"/>
          </a:p>
        </p:txBody>
      </p:sp>
      <p:sp>
        <p:nvSpPr>
          <p:cNvPr id="12" name="Text 10"/>
          <p:cNvSpPr/>
          <p:nvPr/>
        </p:nvSpPr>
        <p:spPr>
          <a:xfrm>
            <a:off x="6537960" y="4114800"/>
            <a:ext cx="2103120" cy="548640"/>
          </a:xfrm>
          <a:prstGeom prst="rect">
            <a:avLst/>
          </a:prstGeom>
          <a:noFill/>
          <a:ln/>
        </p:spPr>
        <p:txBody>
          <a:bodyPr wrap="square" lIns="0" tIns="0" rIns="0" bIns="0" rtlCol="0" anchor="ctr"/>
          <a:lstStyle/>
          <a:p>
            <a:pPr marL="0" indent="0">
              <a:buNone/>
            </a:pPr>
            <a:r>
              <a:rPr lang="en-US" sz="3000" b="1" dirty="0">
                <a:solidFill>
                  <a:srgbClr val="F59E0B"/>
                </a:solidFill>
                <a:latin typeface="Cambria" pitchFamily="34" charset="0"/>
                <a:ea typeface="Cambria" pitchFamily="34" charset="-122"/>
                <a:cs typeface="Cambria" pitchFamily="34" charset="-120"/>
              </a:rPr>
              <a:t>R10.30 bn</a:t>
            </a:r>
            <a:endParaRPr lang="en-US" sz="3000" dirty="0"/>
          </a:p>
        </p:txBody>
      </p:sp>
      <p:sp>
        <p:nvSpPr>
          <p:cNvPr id="13" name="Text 11"/>
          <p:cNvSpPr/>
          <p:nvPr/>
        </p:nvSpPr>
        <p:spPr>
          <a:xfrm>
            <a:off x="6537960" y="4700016"/>
            <a:ext cx="2148840" cy="45720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Total capital requested</a:t>
            </a:r>
            <a:endParaRPr lang="en-US" sz="1150" dirty="0"/>
          </a:p>
        </p:txBody>
      </p:sp>
      <p:sp>
        <p:nvSpPr>
          <p:cNvPr id="14" name="Shape 12"/>
          <p:cNvSpPr/>
          <p:nvPr/>
        </p:nvSpPr>
        <p:spPr>
          <a:xfrm>
            <a:off x="9052560" y="3886200"/>
            <a:ext cx="2514600" cy="1417320"/>
          </a:xfrm>
          <a:prstGeom prst="roundRect">
            <a:avLst>
              <a:gd name="adj" fmla="val 5161"/>
            </a:avLst>
          </a:prstGeom>
          <a:solidFill>
            <a:srgbClr val="0F1B2E"/>
          </a:solidFill>
          <a:ln w="12700">
            <a:solidFill>
              <a:srgbClr val="334155"/>
            </a:solidFill>
            <a:prstDash val="solid"/>
          </a:ln>
        </p:spPr>
        <p:txBody>
          <a:bodyPr/>
          <a:lstStyle/>
          <a:p>
            <a:endParaRPr lang="en-US"/>
          </a:p>
        </p:txBody>
      </p:sp>
      <p:sp>
        <p:nvSpPr>
          <p:cNvPr id="15" name="Text 13"/>
          <p:cNvSpPr/>
          <p:nvPr/>
        </p:nvSpPr>
        <p:spPr>
          <a:xfrm>
            <a:off x="9281160" y="4114800"/>
            <a:ext cx="2103120" cy="548640"/>
          </a:xfrm>
          <a:prstGeom prst="rect">
            <a:avLst/>
          </a:prstGeom>
          <a:noFill/>
          <a:ln/>
        </p:spPr>
        <p:txBody>
          <a:bodyPr wrap="square" lIns="0" tIns="0" rIns="0" bIns="0" rtlCol="0" anchor="ctr"/>
          <a:lstStyle/>
          <a:p>
            <a:pPr marL="0" indent="0">
              <a:buNone/>
            </a:pPr>
            <a:r>
              <a:rPr lang="en-US" sz="3000" b="1" dirty="0">
                <a:solidFill>
                  <a:srgbClr val="2DD4BF"/>
                </a:solidFill>
                <a:latin typeface="Cambria" pitchFamily="34" charset="0"/>
                <a:ea typeface="Cambria" pitchFamily="34" charset="-122"/>
                <a:cs typeface="Cambria" pitchFamily="34" charset="-120"/>
              </a:rPr>
              <a:t>26,506</a:t>
            </a:r>
            <a:endParaRPr lang="en-US" sz="3000" dirty="0"/>
          </a:p>
        </p:txBody>
      </p:sp>
      <p:sp>
        <p:nvSpPr>
          <p:cNvPr id="16" name="Text 14"/>
          <p:cNvSpPr/>
          <p:nvPr/>
        </p:nvSpPr>
        <p:spPr>
          <a:xfrm>
            <a:off x="9281160" y="4700016"/>
            <a:ext cx="2148840" cy="457200"/>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New jobs promised</a:t>
            </a:r>
            <a:endParaRPr lang="en-US" sz="1150" dirty="0"/>
          </a:p>
        </p:txBody>
      </p:sp>
      <p:sp>
        <p:nvSpPr>
          <p:cNvPr id="17" name="Text 15"/>
          <p:cNvSpPr/>
          <p:nvPr/>
        </p:nvSpPr>
        <p:spPr>
          <a:xfrm>
            <a:off x="822960" y="5897880"/>
            <a:ext cx="10515600" cy="32004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411480"/>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the pipeline actually looks like</a:t>
            </a:r>
            <a:endParaRPr lang="en-US" sz="3000" dirty="0"/>
          </a:p>
        </p:txBody>
      </p:sp>
      <p:sp>
        <p:nvSpPr>
          <p:cNvPr id="3" name="Text 1"/>
          <p:cNvSpPr/>
          <p:nvPr/>
        </p:nvSpPr>
        <p:spPr>
          <a:xfrm>
            <a:off x="822960" y="987552"/>
            <a:ext cx="10515600" cy="41148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Every application was scored 0–100 on funding readiness, then grouped into three tiers</a:t>
            </a:r>
            <a:endParaRPr lang="en-US" sz="1400" dirty="0"/>
          </a:p>
        </p:txBody>
      </p:sp>
      <p:sp>
        <p:nvSpPr>
          <p:cNvPr id="4" name="Shape 2"/>
          <p:cNvSpPr/>
          <p:nvPr/>
        </p:nvSpPr>
        <p:spPr>
          <a:xfrm>
            <a:off x="822960" y="2103120"/>
            <a:ext cx="3429000" cy="3931920"/>
          </a:xfrm>
          <a:prstGeom prst="roundRect">
            <a:avLst>
              <a:gd name="adj" fmla="val 2133"/>
            </a:avLst>
          </a:prstGeom>
          <a:solidFill>
            <a:srgbClr val="0F1B2E"/>
          </a:solidFill>
          <a:ln w="12700">
            <a:solidFill>
              <a:srgbClr val="334155"/>
            </a:solidFill>
            <a:prstDash val="solid"/>
          </a:ln>
        </p:spPr>
        <p:txBody>
          <a:bodyPr/>
          <a:lstStyle/>
          <a:p>
            <a:endParaRPr lang="en-US"/>
          </a:p>
        </p:txBody>
      </p:sp>
      <p:sp>
        <p:nvSpPr>
          <p:cNvPr id="5" name="Shape 3"/>
          <p:cNvSpPr/>
          <p:nvPr/>
        </p:nvSpPr>
        <p:spPr>
          <a:xfrm>
            <a:off x="1143000" y="2432304"/>
            <a:ext cx="237744" cy="237744"/>
          </a:xfrm>
          <a:prstGeom prst="ellipse">
            <a:avLst/>
          </a:prstGeom>
          <a:solidFill>
            <a:srgbClr val="2DD4BF"/>
          </a:solidFill>
          <a:ln w="12700">
            <a:solidFill>
              <a:srgbClr val="333333"/>
            </a:solidFill>
            <a:prstDash val="solid"/>
          </a:ln>
        </p:spPr>
        <p:txBody>
          <a:bodyPr/>
          <a:lstStyle/>
          <a:p>
            <a:endParaRPr lang="en-US"/>
          </a:p>
        </p:txBody>
      </p:sp>
      <p:sp>
        <p:nvSpPr>
          <p:cNvPr id="6" name="Text 4"/>
          <p:cNvSpPr/>
          <p:nvPr/>
        </p:nvSpPr>
        <p:spPr>
          <a:xfrm>
            <a:off x="1481328" y="2395728"/>
            <a:ext cx="2468880" cy="310896"/>
          </a:xfrm>
          <a:prstGeom prst="rect">
            <a:avLst/>
          </a:prstGeom>
          <a:noFill/>
          <a:ln/>
        </p:spPr>
        <p:txBody>
          <a:bodyPr wrap="square" lIns="0" tIns="0" rIns="0" bIns="0" rtlCol="0" anchor="ctr"/>
          <a:lstStyle/>
          <a:p>
            <a:pPr marL="0" indent="0">
              <a:buNone/>
            </a:pPr>
            <a:r>
              <a:rPr lang="en-US" sz="1200" b="1" kern="0" spc="150" dirty="0">
                <a:solidFill>
                  <a:srgbClr val="2DD4BF"/>
                </a:solidFill>
                <a:latin typeface="Calibri" pitchFamily="34" charset="0"/>
                <a:ea typeface="Calibri" pitchFamily="34" charset="-122"/>
                <a:cs typeface="Calibri" pitchFamily="34" charset="-120"/>
              </a:rPr>
              <a:t>HIGH TIER</a:t>
            </a:r>
            <a:endParaRPr lang="en-US" sz="1200" dirty="0"/>
          </a:p>
        </p:txBody>
      </p:sp>
      <p:sp>
        <p:nvSpPr>
          <p:cNvPr id="7" name="Text 5"/>
          <p:cNvSpPr/>
          <p:nvPr/>
        </p:nvSpPr>
        <p:spPr>
          <a:xfrm>
            <a:off x="1124712" y="2798064"/>
            <a:ext cx="2834640" cy="7772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245</a:t>
            </a:r>
            <a:endParaRPr lang="en-US" sz="4400" dirty="0"/>
          </a:p>
        </p:txBody>
      </p:sp>
      <p:sp>
        <p:nvSpPr>
          <p:cNvPr id="8" name="Text 6"/>
          <p:cNvSpPr/>
          <p:nvPr/>
        </p:nvSpPr>
        <p:spPr>
          <a:xfrm>
            <a:off x="1143000" y="3636204"/>
            <a:ext cx="28346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22.0% of the application pool</a:t>
            </a:r>
            <a:endParaRPr lang="en-US" sz="1200" dirty="0"/>
          </a:p>
        </p:txBody>
      </p:sp>
      <p:sp>
        <p:nvSpPr>
          <p:cNvPr id="9" name="Text 7"/>
          <p:cNvSpPr/>
          <p:nvPr/>
        </p:nvSpPr>
        <p:spPr>
          <a:xfrm>
            <a:off x="1143000" y="4045094"/>
            <a:ext cx="2788920" cy="949596"/>
          </a:xfrm>
          <a:prstGeom prst="rect">
            <a:avLst/>
          </a:prstGeom>
          <a:noFill/>
          <a:ln/>
        </p:spPr>
        <p:txBody>
          <a:bodyPr wrap="square" lIns="0" tIns="0" rIns="0" bIns="0" rtlCol="0" anchor="t"/>
          <a:lstStyle/>
          <a:p>
            <a:pPr marL="0" indent="0">
              <a:lnSpc>
                <a:spcPts val="1600"/>
              </a:lnSpc>
              <a:buNone/>
            </a:pPr>
            <a:r>
              <a:rPr lang="en-US" sz="1200" dirty="0">
                <a:solidFill>
                  <a:srgbClr val="CBD5E1"/>
                </a:solidFill>
                <a:latin typeface="Calibri" pitchFamily="34" charset="0"/>
                <a:ea typeface="Calibri" pitchFamily="34" charset="-122"/>
                <a:cs typeface="Calibri" pitchFamily="34" charset="-120"/>
              </a:rPr>
              <a:t>Asks less, collectively, than it earns. </a:t>
            </a:r>
            <a:r>
              <a:rPr lang="en-GB" sz="1200" dirty="0">
                <a:solidFill>
                  <a:srgbClr val="CBD5E1"/>
                </a:solidFill>
                <a:latin typeface="Calibri" pitchFamily="34" charset="0"/>
                <a:ea typeface="Calibri" pitchFamily="34" charset="-122"/>
                <a:cs typeface="Calibri" pitchFamily="34" charset="-120"/>
              </a:rPr>
              <a:t>The most credible projection of job growth in the pool, and the </a:t>
            </a:r>
            <a:r>
              <a:rPr lang="en-US" sz="1200" dirty="0">
                <a:solidFill>
                  <a:srgbClr val="CBD5E1"/>
                </a:solidFill>
                <a:latin typeface="Calibri" pitchFamily="34" charset="0"/>
                <a:ea typeface="Calibri" pitchFamily="34" charset="-122"/>
                <a:cs typeface="Calibri" pitchFamily="34" charset="-120"/>
              </a:rPr>
              <a:t>strongest transformation profile. Ready to present to investors now.</a:t>
            </a:r>
            <a:endParaRPr lang="en-US" sz="1200" dirty="0"/>
          </a:p>
        </p:txBody>
      </p:sp>
      <p:sp>
        <p:nvSpPr>
          <p:cNvPr id="10" name="Text 8"/>
          <p:cNvSpPr/>
          <p:nvPr/>
        </p:nvSpPr>
        <p:spPr>
          <a:xfrm>
            <a:off x="1143000" y="5504688"/>
            <a:ext cx="2834640" cy="292608"/>
          </a:xfrm>
          <a:prstGeom prst="rect">
            <a:avLst/>
          </a:prstGeom>
          <a:noFill/>
          <a:ln/>
        </p:spPr>
        <p:txBody>
          <a:bodyPr wrap="square" lIns="0" tIns="0" rIns="0" bIns="0" rtlCol="0" anchor="ctr"/>
          <a:lstStyle/>
          <a:p>
            <a:pPr marL="0" indent="0">
              <a:buNone/>
            </a:pPr>
            <a:r>
              <a:rPr lang="en-US" sz="1150" b="1" dirty="0">
                <a:solidFill>
                  <a:srgbClr val="2DD4BF"/>
                </a:solidFill>
                <a:latin typeface="Calibri" pitchFamily="34" charset="0"/>
                <a:ea typeface="Calibri" pitchFamily="34" charset="-122"/>
                <a:cs typeface="Calibri" pitchFamily="34" charset="-120"/>
              </a:rPr>
              <a:t>R3.24 bn ask  ·  11,436 jobs promised</a:t>
            </a:r>
            <a:endParaRPr lang="en-US" sz="1150" dirty="0"/>
          </a:p>
        </p:txBody>
      </p:sp>
      <p:sp>
        <p:nvSpPr>
          <p:cNvPr id="11" name="Shape 9"/>
          <p:cNvSpPr/>
          <p:nvPr/>
        </p:nvSpPr>
        <p:spPr>
          <a:xfrm>
            <a:off x="4617720" y="2103120"/>
            <a:ext cx="3429000" cy="3931920"/>
          </a:xfrm>
          <a:prstGeom prst="roundRect">
            <a:avLst>
              <a:gd name="adj" fmla="val 2133"/>
            </a:avLst>
          </a:prstGeom>
          <a:solidFill>
            <a:srgbClr val="0F1B2E"/>
          </a:solidFill>
          <a:ln w="12700">
            <a:solidFill>
              <a:srgbClr val="334155"/>
            </a:solidFill>
            <a:prstDash val="solid"/>
          </a:ln>
        </p:spPr>
        <p:txBody>
          <a:bodyPr/>
          <a:lstStyle/>
          <a:p>
            <a:endParaRPr lang="en-US"/>
          </a:p>
        </p:txBody>
      </p:sp>
      <p:sp>
        <p:nvSpPr>
          <p:cNvPr id="12" name="Shape 10"/>
          <p:cNvSpPr/>
          <p:nvPr/>
        </p:nvSpPr>
        <p:spPr>
          <a:xfrm>
            <a:off x="4937760" y="2432304"/>
            <a:ext cx="237744" cy="237744"/>
          </a:xfrm>
          <a:prstGeom prst="ellipse">
            <a:avLst/>
          </a:prstGeom>
          <a:solidFill>
            <a:srgbClr val="F59E0B"/>
          </a:solidFill>
          <a:ln w="12700">
            <a:solidFill>
              <a:srgbClr val="333333"/>
            </a:solidFill>
            <a:prstDash val="solid"/>
          </a:ln>
        </p:spPr>
        <p:txBody>
          <a:bodyPr/>
          <a:lstStyle/>
          <a:p>
            <a:endParaRPr lang="en-US"/>
          </a:p>
        </p:txBody>
      </p:sp>
      <p:sp>
        <p:nvSpPr>
          <p:cNvPr id="13" name="Text 11"/>
          <p:cNvSpPr/>
          <p:nvPr/>
        </p:nvSpPr>
        <p:spPr>
          <a:xfrm>
            <a:off x="5276088" y="2395728"/>
            <a:ext cx="2468880" cy="310896"/>
          </a:xfrm>
          <a:prstGeom prst="rect">
            <a:avLst/>
          </a:prstGeom>
          <a:noFill/>
          <a:ln/>
        </p:spPr>
        <p:txBody>
          <a:bodyPr wrap="square" lIns="0" tIns="0" rIns="0" bIns="0" rtlCol="0" anchor="ctr"/>
          <a:lstStyle/>
          <a:p>
            <a:pPr marL="0" indent="0">
              <a:buNone/>
            </a:pPr>
            <a:r>
              <a:rPr lang="en-US" sz="1200" b="1" kern="0" spc="150" dirty="0">
                <a:solidFill>
                  <a:srgbClr val="F59E0B"/>
                </a:solidFill>
                <a:latin typeface="Calibri" pitchFamily="34" charset="0"/>
                <a:ea typeface="Calibri" pitchFamily="34" charset="-122"/>
                <a:cs typeface="Calibri" pitchFamily="34" charset="-120"/>
              </a:rPr>
              <a:t>MID TIER</a:t>
            </a:r>
            <a:endParaRPr lang="en-US" sz="1200" dirty="0"/>
          </a:p>
        </p:txBody>
      </p:sp>
      <p:sp>
        <p:nvSpPr>
          <p:cNvPr id="14" name="Text 12"/>
          <p:cNvSpPr/>
          <p:nvPr/>
        </p:nvSpPr>
        <p:spPr>
          <a:xfrm>
            <a:off x="4919472" y="2798064"/>
            <a:ext cx="2834640" cy="7772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595</a:t>
            </a:r>
            <a:endParaRPr lang="en-US" sz="4400" dirty="0"/>
          </a:p>
        </p:txBody>
      </p:sp>
      <p:sp>
        <p:nvSpPr>
          <p:cNvPr id="15" name="Text 13"/>
          <p:cNvSpPr/>
          <p:nvPr/>
        </p:nvSpPr>
        <p:spPr>
          <a:xfrm>
            <a:off x="4937760" y="3636204"/>
            <a:ext cx="28346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53.3% of the application pool</a:t>
            </a:r>
            <a:endParaRPr lang="en-US" sz="1200" dirty="0"/>
          </a:p>
        </p:txBody>
      </p:sp>
      <p:sp>
        <p:nvSpPr>
          <p:cNvPr id="16" name="Text 14"/>
          <p:cNvSpPr/>
          <p:nvPr/>
        </p:nvSpPr>
        <p:spPr>
          <a:xfrm>
            <a:off x="4937760" y="4045094"/>
            <a:ext cx="2788920" cy="949596"/>
          </a:xfrm>
          <a:prstGeom prst="rect">
            <a:avLst/>
          </a:prstGeom>
          <a:noFill/>
          <a:ln/>
        </p:spPr>
        <p:txBody>
          <a:bodyPr wrap="square" lIns="0" tIns="0" rIns="0" bIns="0" rtlCol="0" anchor="t"/>
          <a:lstStyle/>
          <a:p>
            <a:pPr marL="0" indent="0">
              <a:lnSpc>
                <a:spcPts val="1600"/>
              </a:lnSpc>
              <a:buNone/>
            </a:pPr>
            <a:r>
              <a:rPr lang="en-US" sz="1200" dirty="0">
                <a:solidFill>
                  <a:srgbClr val="CBD5E1"/>
                </a:solidFill>
                <a:latin typeface="Calibri" pitchFamily="34" charset="0"/>
                <a:ea typeface="Calibri" pitchFamily="34" charset="-122"/>
                <a:cs typeface="Calibri" pitchFamily="34" charset="-120"/>
              </a:rPr>
              <a:t>The largest tier, and the biggest job projection of the three. Genuine trading businesses whose gaps are correctable</a:t>
            </a:r>
            <a:endParaRPr lang="en-US" sz="1200" dirty="0"/>
          </a:p>
        </p:txBody>
      </p:sp>
      <p:sp>
        <p:nvSpPr>
          <p:cNvPr id="17" name="Text 15"/>
          <p:cNvSpPr/>
          <p:nvPr/>
        </p:nvSpPr>
        <p:spPr>
          <a:xfrm>
            <a:off x="4937760" y="5504688"/>
            <a:ext cx="2834640" cy="292608"/>
          </a:xfrm>
          <a:prstGeom prst="rect">
            <a:avLst/>
          </a:prstGeom>
          <a:noFill/>
          <a:ln/>
        </p:spPr>
        <p:txBody>
          <a:bodyPr wrap="square" lIns="0" tIns="0" rIns="0" bIns="0"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R2.66 bn ask  ·  11,751 jobs promised</a:t>
            </a:r>
            <a:endParaRPr lang="en-US" sz="1150" dirty="0"/>
          </a:p>
        </p:txBody>
      </p:sp>
      <p:sp>
        <p:nvSpPr>
          <p:cNvPr id="18" name="Shape 16"/>
          <p:cNvSpPr/>
          <p:nvPr/>
        </p:nvSpPr>
        <p:spPr>
          <a:xfrm>
            <a:off x="8412480" y="2103120"/>
            <a:ext cx="3429000" cy="3931920"/>
          </a:xfrm>
          <a:prstGeom prst="roundRect">
            <a:avLst>
              <a:gd name="adj" fmla="val 2133"/>
            </a:avLst>
          </a:prstGeom>
          <a:solidFill>
            <a:srgbClr val="0F1B2E"/>
          </a:solidFill>
          <a:ln w="12700">
            <a:solidFill>
              <a:srgbClr val="334155"/>
            </a:solidFill>
            <a:prstDash val="solid"/>
          </a:ln>
        </p:spPr>
        <p:txBody>
          <a:bodyPr/>
          <a:lstStyle/>
          <a:p>
            <a:endParaRPr lang="en-US"/>
          </a:p>
        </p:txBody>
      </p:sp>
      <p:sp>
        <p:nvSpPr>
          <p:cNvPr id="19" name="Shape 17"/>
          <p:cNvSpPr/>
          <p:nvPr/>
        </p:nvSpPr>
        <p:spPr>
          <a:xfrm>
            <a:off x="8732520" y="2432304"/>
            <a:ext cx="237744" cy="237744"/>
          </a:xfrm>
          <a:prstGeom prst="ellipse">
            <a:avLst/>
          </a:prstGeom>
          <a:solidFill>
            <a:srgbClr val="F87171"/>
          </a:solidFill>
          <a:ln w="12700">
            <a:solidFill>
              <a:srgbClr val="333333"/>
            </a:solidFill>
            <a:prstDash val="solid"/>
          </a:ln>
        </p:spPr>
        <p:txBody>
          <a:bodyPr/>
          <a:lstStyle/>
          <a:p>
            <a:endParaRPr lang="en-US"/>
          </a:p>
        </p:txBody>
      </p:sp>
      <p:sp>
        <p:nvSpPr>
          <p:cNvPr id="20" name="Text 18"/>
          <p:cNvSpPr/>
          <p:nvPr/>
        </p:nvSpPr>
        <p:spPr>
          <a:xfrm>
            <a:off x="9070848" y="2395728"/>
            <a:ext cx="2468880" cy="310896"/>
          </a:xfrm>
          <a:prstGeom prst="rect">
            <a:avLst/>
          </a:prstGeom>
          <a:noFill/>
          <a:ln/>
        </p:spPr>
        <p:txBody>
          <a:bodyPr wrap="square" lIns="0" tIns="0" rIns="0" bIns="0" rtlCol="0" anchor="ctr"/>
          <a:lstStyle/>
          <a:p>
            <a:pPr marL="0" indent="0">
              <a:buNone/>
            </a:pPr>
            <a:r>
              <a:rPr lang="en-US" sz="1200" b="1" kern="0" spc="150" dirty="0">
                <a:solidFill>
                  <a:srgbClr val="F87171"/>
                </a:solidFill>
                <a:latin typeface="Calibri" pitchFamily="34" charset="0"/>
                <a:ea typeface="Calibri" pitchFamily="34" charset="-122"/>
                <a:cs typeface="Calibri" pitchFamily="34" charset="-120"/>
              </a:rPr>
              <a:t>LOW TIER</a:t>
            </a:r>
            <a:endParaRPr lang="en-US" sz="1200" dirty="0"/>
          </a:p>
        </p:txBody>
      </p:sp>
      <p:sp>
        <p:nvSpPr>
          <p:cNvPr id="21" name="Text 19"/>
          <p:cNvSpPr/>
          <p:nvPr/>
        </p:nvSpPr>
        <p:spPr>
          <a:xfrm>
            <a:off x="8714232" y="2798064"/>
            <a:ext cx="2834640" cy="77724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276</a:t>
            </a:r>
            <a:endParaRPr lang="en-US" sz="4400" dirty="0"/>
          </a:p>
        </p:txBody>
      </p:sp>
      <p:sp>
        <p:nvSpPr>
          <p:cNvPr id="22" name="Text 20"/>
          <p:cNvSpPr/>
          <p:nvPr/>
        </p:nvSpPr>
        <p:spPr>
          <a:xfrm>
            <a:off x="8732520" y="3636204"/>
            <a:ext cx="2834640" cy="256032"/>
          </a:xfrm>
          <a:prstGeom prst="rect">
            <a:avLst/>
          </a:prstGeom>
          <a:noFill/>
          <a:ln/>
        </p:spPr>
        <p:txBody>
          <a:bodyPr wrap="square" lIns="0" tIns="0" rIns="0" bIns="0" rtlCol="0" anchor="ctr"/>
          <a:lstStyle/>
          <a:p>
            <a:pPr marL="0" indent="0">
              <a:buNone/>
            </a:pPr>
            <a:r>
              <a:rPr lang="en-US" sz="1200" dirty="0">
                <a:solidFill>
                  <a:srgbClr val="94A3B8"/>
                </a:solidFill>
                <a:latin typeface="Calibri" pitchFamily="34" charset="0"/>
                <a:ea typeface="Calibri" pitchFamily="34" charset="-122"/>
                <a:cs typeface="Calibri" pitchFamily="34" charset="-120"/>
              </a:rPr>
              <a:t>24.7% of the application pool</a:t>
            </a:r>
            <a:endParaRPr lang="en-US" sz="1200" dirty="0"/>
          </a:p>
        </p:txBody>
      </p:sp>
      <p:sp>
        <p:nvSpPr>
          <p:cNvPr id="23" name="Text 21"/>
          <p:cNvSpPr/>
          <p:nvPr/>
        </p:nvSpPr>
        <p:spPr>
          <a:xfrm>
            <a:off x="8732520" y="4045094"/>
            <a:ext cx="2788920" cy="1033272"/>
          </a:xfrm>
          <a:prstGeom prst="rect">
            <a:avLst/>
          </a:prstGeom>
          <a:noFill/>
          <a:ln/>
        </p:spPr>
        <p:txBody>
          <a:bodyPr wrap="square" lIns="0" tIns="0" rIns="0" bIns="0" rtlCol="0" anchor="t"/>
          <a:lstStyle/>
          <a:p>
            <a:pPr marL="0" indent="0">
              <a:lnSpc>
                <a:spcPts val="1600"/>
              </a:lnSpc>
              <a:buNone/>
            </a:pPr>
            <a:r>
              <a:rPr lang="en-US" sz="1200" dirty="0">
                <a:solidFill>
                  <a:srgbClr val="CBD5E1"/>
                </a:solidFill>
                <a:latin typeface="Calibri" pitchFamily="34" charset="0"/>
                <a:ea typeface="Calibri" pitchFamily="34" charset="-122"/>
                <a:cs typeface="Calibri" pitchFamily="34" charset="-120"/>
              </a:rPr>
              <a:t>SMEs that are in their early stages of growth. Asks far beyond what they earn. This is a development pool for future rounds, not a rejection pile</a:t>
            </a:r>
            <a:endParaRPr lang="en-US" sz="1200" dirty="0"/>
          </a:p>
        </p:txBody>
      </p:sp>
      <p:sp>
        <p:nvSpPr>
          <p:cNvPr id="24" name="Text 22"/>
          <p:cNvSpPr/>
          <p:nvPr/>
        </p:nvSpPr>
        <p:spPr>
          <a:xfrm>
            <a:off x="8732520" y="5504688"/>
            <a:ext cx="2834640" cy="292608"/>
          </a:xfrm>
          <a:prstGeom prst="rect">
            <a:avLst/>
          </a:prstGeom>
          <a:noFill/>
          <a:ln/>
        </p:spPr>
        <p:txBody>
          <a:bodyPr wrap="square" lIns="0" tIns="0" rIns="0" bIns="0" rtlCol="0" anchor="ctr"/>
          <a:lstStyle/>
          <a:p>
            <a:pPr marL="0" indent="0">
              <a:buNone/>
            </a:pPr>
            <a:r>
              <a:rPr lang="en-US" sz="1150" b="1" dirty="0">
                <a:solidFill>
                  <a:srgbClr val="F87171"/>
                </a:solidFill>
                <a:latin typeface="Calibri" pitchFamily="34" charset="0"/>
                <a:ea typeface="Calibri" pitchFamily="34" charset="-122"/>
                <a:cs typeface="Calibri" pitchFamily="34" charset="-120"/>
              </a:rPr>
              <a:t>R4.40 bn ask  ·  3,319 jobs promised</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411480"/>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How every SME was scored</a:t>
            </a:r>
            <a:endParaRPr lang="en-US" sz="3000" dirty="0"/>
          </a:p>
        </p:txBody>
      </p:sp>
      <p:sp>
        <p:nvSpPr>
          <p:cNvPr id="3" name="Text 1"/>
          <p:cNvSpPr/>
          <p:nvPr/>
        </p:nvSpPr>
        <p:spPr>
          <a:xfrm>
            <a:off x="822960" y="1306730"/>
            <a:ext cx="10515600" cy="41148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Four weighted pillars, drawn only from fields the application form already collects, summed to a single 0–100 Funding Readiness Score.</a:t>
            </a:r>
            <a:endParaRPr lang="en-US" sz="1400" dirty="0"/>
          </a:p>
        </p:txBody>
      </p:sp>
      <p:sp>
        <p:nvSpPr>
          <p:cNvPr id="4" name="Shape 2"/>
          <p:cNvSpPr/>
          <p:nvPr/>
        </p:nvSpPr>
        <p:spPr>
          <a:xfrm>
            <a:off x="822960" y="2011680"/>
            <a:ext cx="7315200" cy="749808"/>
          </a:xfrm>
          <a:prstGeom prst="roundRect">
            <a:avLst>
              <a:gd name="adj" fmla="val 7317"/>
            </a:avLst>
          </a:prstGeom>
          <a:solidFill>
            <a:srgbClr val="0F1B2E"/>
          </a:solidFill>
          <a:ln w="12700">
            <a:solidFill>
              <a:srgbClr val="334155"/>
            </a:solidFill>
            <a:prstDash val="solid"/>
          </a:ln>
        </p:spPr>
        <p:txBody>
          <a:bodyPr/>
          <a:lstStyle/>
          <a:p>
            <a:endParaRPr lang="en-US"/>
          </a:p>
        </p:txBody>
      </p:sp>
      <p:sp>
        <p:nvSpPr>
          <p:cNvPr id="5" name="Shape 3"/>
          <p:cNvSpPr/>
          <p:nvPr/>
        </p:nvSpPr>
        <p:spPr>
          <a:xfrm>
            <a:off x="1051560" y="2185416"/>
            <a:ext cx="402336" cy="402336"/>
          </a:xfrm>
          <a:prstGeom prst="ellipse">
            <a:avLst/>
          </a:prstGeom>
          <a:solidFill>
            <a:srgbClr val="2DD4BF"/>
          </a:solidFill>
          <a:ln w="12700">
            <a:solidFill>
              <a:srgbClr val="333333"/>
            </a:solidFill>
            <a:prstDash val="solid"/>
          </a:ln>
        </p:spPr>
        <p:txBody>
          <a:bodyPr/>
          <a:lstStyle/>
          <a:p>
            <a:endParaRPr lang="en-US"/>
          </a:p>
        </p:txBody>
      </p:sp>
      <p:sp>
        <p:nvSpPr>
          <p:cNvPr id="6" name="Text 4"/>
          <p:cNvSpPr/>
          <p:nvPr/>
        </p:nvSpPr>
        <p:spPr>
          <a:xfrm>
            <a:off x="1051560" y="2185416"/>
            <a:ext cx="402336" cy="402336"/>
          </a:xfrm>
          <a:prstGeom prst="rect">
            <a:avLst/>
          </a:prstGeom>
          <a:noFill/>
          <a:ln/>
        </p:spPr>
        <p:txBody>
          <a:bodyPr wrap="square" lIns="0" tIns="0" rIns="0" bIns="0" rtlCol="0" anchor="ctr"/>
          <a:lstStyle/>
          <a:p>
            <a:pPr marL="0" indent="0" algn="ctr">
              <a:buNone/>
            </a:pPr>
            <a:r>
              <a:rPr lang="en-US" sz="1700" b="1" dirty="0">
                <a:solidFill>
                  <a:srgbClr val="0F1B2E"/>
                </a:solidFill>
                <a:latin typeface="Cambria" pitchFamily="34" charset="0"/>
                <a:ea typeface="Cambria" pitchFamily="34" charset="-122"/>
                <a:cs typeface="Cambria" pitchFamily="34" charset="-120"/>
              </a:rPr>
              <a:t>1</a:t>
            </a:r>
            <a:endParaRPr lang="en-US" sz="1700" dirty="0"/>
          </a:p>
        </p:txBody>
      </p:sp>
      <p:sp>
        <p:nvSpPr>
          <p:cNvPr id="7" name="Text 5"/>
          <p:cNvSpPr/>
          <p:nvPr/>
        </p:nvSpPr>
        <p:spPr>
          <a:xfrm>
            <a:off x="1627632" y="2130552"/>
            <a:ext cx="2286000" cy="51206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Revenue &amp; Growth</a:t>
            </a:r>
            <a:endParaRPr lang="en-US" sz="1400" dirty="0"/>
          </a:p>
        </p:txBody>
      </p:sp>
      <p:sp>
        <p:nvSpPr>
          <p:cNvPr id="8" name="Text 6"/>
          <p:cNvSpPr/>
          <p:nvPr/>
        </p:nvSpPr>
        <p:spPr>
          <a:xfrm>
            <a:off x="3931920" y="2130552"/>
            <a:ext cx="1234440" cy="512064"/>
          </a:xfrm>
          <a:prstGeom prst="rect">
            <a:avLst/>
          </a:prstGeom>
          <a:noFill/>
          <a:ln/>
        </p:spPr>
        <p:txBody>
          <a:bodyPr wrap="square" lIns="0" tIns="0" rIns="0" bIns="0" rtlCol="0" anchor="ctr"/>
          <a:lstStyle/>
          <a:p>
            <a:pPr marL="0" indent="0">
              <a:buNone/>
            </a:pPr>
            <a:r>
              <a:rPr lang="en-US" sz="2000" b="1" dirty="0">
                <a:solidFill>
                  <a:srgbClr val="2DD4BF"/>
                </a:solidFill>
                <a:latin typeface="Cambria" pitchFamily="34" charset="0"/>
                <a:ea typeface="Cambria" pitchFamily="34" charset="-122"/>
                <a:cs typeface="Cambria" pitchFamily="34" charset="-120"/>
              </a:rPr>
              <a:t>30</a:t>
            </a:r>
            <a:r>
              <a:rPr lang="en-US" sz="1100" dirty="0">
                <a:solidFill>
                  <a:srgbClr val="94A3B8"/>
                </a:solidFill>
                <a:latin typeface="Calibri" pitchFamily="34" charset="0"/>
                <a:ea typeface="Calibri" pitchFamily="34" charset="-122"/>
                <a:cs typeface="Calibri" pitchFamily="34" charset="-120"/>
              </a:rPr>
              <a:t>  weight</a:t>
            </a:r>
            <a:endParaRPr lang="en-US" sz="2000" dirty="0"/>
          </a:p>
        </p:txBody>
      </p:sp>
      <p:sp>
        <p:nvSpPr>
          <p:cNvPr id="9" name="Text 7"/>
          <p:cNvSpPr/>
          <p:nvPr/>
        </p:nvSpPr>
        <p:spPr>
          <a:xfrm>
            <a:off x="5212080" y="2112264"/>
            <a:ext cx="2788920" cy="548640"/>
          </a:xfrm>
          <a:prstGeom prst="rect">
            <a:avLst/>
          </a:prstGeom>
          <a:noFill/>
          <a:ln/>
        </p:spPr>
        <p:txBody>
          <a:bodyPr wrap="square" lIns="0" tIns="0" rIns="0" bIns="0" rtlCol="0" anchor="ctr"/>
          <a:lstStyle/>
          <a:p>
            <a:pPr marL="0" indent="0">
              <a:lnSpc>
                <a:spcPts val="1400"/>
              </a:lnSpc>
              <a:buNone/>
            </a:pPr>
            <a:r>
              <a:rPr lang="en-US" sz="1100" dirty="0">
                <a:solidFill>
                  <a:srgbClr val="CBD5E1"/>
                </a:solidFill>
                <a:latin typeface="Calibri" pitchFamily="34" charset="0"/>
                <a:ea typeface="Calibri" pitchFamily="34" charset="-122"/>
                <a:cs typeface="Calibri" pitchFamily="34" charset="-120"/>
              </a:rPr>
              <a:t>Reported turnover for 2023, 2024 and 2025, plus year-on-year movement</a:t>
            </a:r>
            <a:endParaRPr lang="en-US" sz="1100" dirty="0"/>
          </a:p>
        </p:txBody>
      </p:sp>
      <p:sp>
        <p:nvSpPr>
          <p:cNvPr id="10" name="Shape 8"/>
          <p:cNvSpPr/>
          <p:nvPr/>
        </p:nvSpPr>
        <p:spPr>
          <a:xfrm>
            <a:off x="822960" y="2907792"/>
            <a:ext cx="7315200" cy="749808"/>
          </a:xfrm>
          <a:prstGeom prst="roundRect">
            <a:avLst>
              <a:gd name="adj" fmla="val 7317"/>
            </a:avLst>
          </a:prstGeom>
          <a:solidFill>
            <a:srgbClr val="0F1B2E"/>
          </a:solidFill>
          <a:ln w="12700">
            <a:solidFill>
              <a:srgbClr val="334155"/>
            </a:solidFill>
            <a:prstDash val="solid"/>
          </a:ln>
        </p:spPr>
        <p:txBody>
          <a:bodyPr/>
          <a:lstStyle/>
          <a:p>
            <a:endParaRPr lang="en-US"/>
          </a:p>
        </p:txBody>
      </p:sp>
      <p:sp>
        <p:nvSpPr>
          <p:cNvPr id="11" name="Shape 9"/>
          <p:cNvSpPr/>
          <p:nvPr/>
        </p:nvSpPr>
        <p:spPr>
          <a:xfrm>
            <a:off x="1051560" y="3081528"/>
            <a:ext cx="402336" cy="402336"/>
          </a:xfrm>
          <a:prstGeom prst="ellipse">
            <a:avLst/>
          </a:prstGeom>
          <a:solidFill>
            <a:srgbClr val="2DD4BF"/>
          </a:solidFill>
          <a:ln w="12700">
            <a:solidFill>
              <a:srgbClr val="333333"/>
            </a:solidFill>
            <a:prstDash val="solid"/>
          </a:ln>
        </p:spPr>
        <p:txBody>
          <a:bodyPr/>
          <a:lstStyle/>
          <a:p>
            <a:endParaRPr lang="en-US"/>
          </a:p>
        </p:txBody>
      </p:sp>
      <p:sp>
        <p:nvSpPr>
          <p:cNvPr id="12" name="Text 10"/>
          <p:cNvSpPr/>
          <p:nvPr/>
        </p:nvSpPr>
        <p:spPr>
          <a:xfrm>
            <a:off x="1051560" y="3081528"/>
            <a:ext cx="402336" cy="402336"/>
          </a:xfrm>
          <a:prstGeom prst="rect">
            <a:avLst/>
          </a:prstGeom>
          <a:noFill/>
          <a:ln/>
        </p:spPr>
        <p:txBody>
          <a:bodyPr wrap="square" lIns="0" tIns="0" rIns="0" bIns="0" rtlCol="0" anchor="ctr"/>
          <a:lstStyle/>
          <a:p>
            <a:pPr marL="0" indent="0" algn="ctr">
              <a:buNone/>
            </a:pPr>
            <a:r>
              <a:rPr lang="en-US" sz="1700" b="1" dirty="0">
                <a:solidFill>
                  <a:srgbClr val="0F1B2E"/>
                </a:solidFill>
                <a:latin typeface="Cambria" pitchFamily="34" charset="0"/>
                <a:ea typeface="Cambria" pitchFamily="34" charset="-122"/>
                <a:cs typeface="Cambria" pitchFamily="34" charset="-120"/>
              </a:rPr>
              <a:t>2</a:t>
            </a:r>
            <a:endParaRPr lang="en-US" sz="1700" dirty="0"/>
          </a:p>
        </p:txBody>
      </p:sp>
      <p:sp>
        <p:nvSpPr>
          <p:cNvPr id="13" name="Text 11"/>
          <p:cNvSpPr/>
          <p:nvPr/>
        </p:nvSpPr>
        <p:spPr>
          <a:xfrm>
            <a:off x="1627632" y="3026664"/>
            <a:ext cx="2286000" cy="51206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Jobs &amp; Scale</a:t>
            </a:r>
            <a:endParaRPr lang="en-US" sz="1400" dirty="0"/>
          </a:p>
        </p:txBody>
      </p:sp>
      <p:sp>
        <p:nvSpPr>
          <p:cNvPr id="14" name="Text 12"/>
          <p:cNvSpPr/>
          <p:nvPr/>
        </p:nvSpPr>
        <p:spPr>
          <a:xfrm>
            <a:off x="3931920" y="3026664"/>
            <a:ext cx="1234440" cy="512064"/>
          </a:xfrm>
          <a:prstGeom prst="rect">
            <a:avLst/>
          </a:prstGeom>
          <a:noFill/>
          <a:ln/>
        </p:spPr>
        <p:txBody>
          <a:bodyPr wrap="square" lIns="0" tIns="0" rIns="0" bIns="0" rtlCol="0" anchor="ctr"/>
          <a:lstStyle/>
          <a:p>
            <a:pPr marL="0" indent="0">
              <a:buNone/>
            </a:pPr>
            <a:r>
              <a:rPr lang="en-US" sz="2000" b="1" dirty="0">
                <a:solidFill>
                  <a:srgbClr val="2DD4BF"/>
                </a:solidFill>
                <a:latin typeface="Cambria" pitchFamily="34" charset="0"/>
                <a:ea typeface="Cambria" pitchFamily="34" charset="-122"/>
                <a:cs typeface="Cambria" pitchFamily="34" charset="-120"/>
              </a:rPr>
              <a:t>25</a:t>
            </a:r>
            <a:r>
              <a:rPr lang="en-US" sz="1100" dirty="0">
                <a:solidFill>
                  <a:srgbClr val="94A3B8"/>
                </a:solidFill>
                <a:latin typeface="Calibri" pitchFamily="34" charset="0"/>
                <a:ea typeface="Calibri" pitchFamily="34" charset="-122"/>
                <a:cs typeface="Calibri" pitchFamily="34" charset="-120"/>
              </a:rPr>
              <a:t>  weight</a:t>
            </a:r>
            <a:endParaRPr lang="en-US" sz="2000" dirty="0"/>
          </a:p>
        </p:txBody>
      </p:sp>
      <p:sp>
        <p:nvSpPr>
          <p:cNvPr id="15" name="Text 13"/>
          <p:cNvSpPr/>
          <p:nvPr/>
        </p:nvSpPr>
        <p:spPr>
          <a:xfrm>
            <a:off x="5212080" y="3008376"/>
            <a:ext cx="2788920" cy="548640"/>
          </a:xfrm>
          <a:prstGeom prst="rect">
            <a:avLst/>
          </a:prstGeom>
          <a:noFill/>
          <a:ln/>
        </p:spPr>
        <p:txBody>
          <a:bodyPr wrap="square" lIns="0" tIns="0" rIns="0" bIns="0" rtlCol="0" anchor="ctr"/>
          <a:lstStyle/>
          <a:p>
            <a:pPr marL="0" indent="0">
              <a:lnSpc>
                <a:spcPts val="1400"/>
              </a:lnSpc>
              <a:buNone/>
            </a:pPr>
            <a:r>
              <a:rPr lang="en-US" sz="1100" dirty="0">
                <a:solidFill>
                  <a:srgbClr val="CBD5E1"/>
                </a:solidFill>
                <a:latin typeface="Calibri" pitchFamily="34" charset="0"/>
                <a:ea typeface="Calibri" pitchFamily="34" charset="-122"/>
                <a:cs typeface="Calibri" pitchFamily="34" charset="-120"/>
              </a:rPr>
              <a:t>People already employed, plus the new jobs the business anticipates creating</a:t>
            </a:r>
            <a:endParaRPr lang="en-US" sz="1100" dirty="0"/>
          </a:p>
        </p:txBody>
      </p:sp>
      <p:sp>
        <p:nvSpPr>
          <p:cNvPr id="16" name="Shape 14"/>
          <p:cNvSpPr/>
          <p:nvPr/>
        </p:nvSpPr>
        <p:spPr>
          <a:xfrm>
            <a:off x="822960" y="3803904"/>
            <a:ext cx="7315200" cy="749808"/>
          </a:xfrm>
          <a:prstGeom prst="roundRect">
            <a:avLst>
              <a:gd name="adj" fmla="val 7317"/>
            </a:avLst>
          </a:prstGeom>
          <a:solidFill>
            <a:srgbClr val="0F1B2E"/>
          </a:solidFill>
          <a:ln w="12700">
            <a:solidFill>
              <a:srgbClr val="334155"/>
            </a:solidFill>
            <a:prstDash val="solid"/>
          </a:ln>
        </p:spPr>
        <p:txBody>
          <a:bodyPr/>
          <a:lstStyle/>
          <a:p>
            <a:endParaRPr lang="en-US"/>
          </a:p>
        </p:txBody>
      </p:sp>
      <p:sp>
        <p:nvSpPr>
          <p:cNvPr id="17" name="Shape 15"/>
          <p:cNvSpPr/>
          <p:nvPr/>
        </p:nvSpPr>
        <p:spPr>
          <a:xfrm>
            <a:off x="1051560" y="3977640"/>
            <a:ext cx="402336" cy="402336"/>
          </a:xfrm>
          <a:prstGeom prst="ellipse">
            <a:avLst/>
          </a:prstGeom>
          <a:solidFill>
            <a:srgbClr val="F59E0B"/>
          </a:solidFill>
          <a:ln w="12700">
            <a:solidFill>
              <a:srgbClr val="333333"/>
            </a:solidFill>
            <a:prstDash val="solid"/>
          </a:ln>
        </p:spPr>
        <p:txBody>
          <a:bodyPr/>
          <a:lstStyle/>
          <a:p>
            <a:endParaRPr lang="en-US"/>
          </a:p>
        </p:txBody>
      </p:sp>
      <p:sp>
        <p:nvSpPr>
          <p:cNvPr id="18" name="Text 16"/>
          <p:cNvSpPr/>
          <p:nvPr/>
        </p:nvSpPr>
        <p:spPr>
          <a:xfrm>
            <a:off x="1051560" y="3977640"/>
            <a:ext cx="402336" cy="402336"/>
          </a:xfrm>
          <a:prstGeom prst="rect">
            <a:avLst/>
          </a:prstGeom>
          <a:noFill/>
          <a:ln/>
        </p:spPr>
        <p:txBody>
          <a:bodyPr wrap="square" lIns="0" tIns="0" rIns="0" bIns="0" rtlCol="0" anchor="ctr"/>
          <a:lstStyle/>
          <a:p>
            <a:pPr marL="0" indent="0" algn="ctr">
              <a:buNone/>
            </a:pPr>
            <a:r>
              <a:rPr lang="en-US" sz="1700" b="1" dirty="0">
                <a:solidFill>
                  <a:srgbClr val="0F1B2E"/>
                </a:solidFill>
                <a:latin typeface="Cambria" pitchFamily="34" charset="0"/>
                <a:ea typeface="Cambria" pitchFamily="34" charset="-122"/>
                <a:cs typeface="Cambria" pitchFamily="34" charset="-120"/>
              </a:rPr>
              <a:t>3</a:t>
            </a:r>
            <a:endParaRPr lang="en-US" sz="1700" dirty="0"/>
          </a:p>
        </p:txBody>
      </p:sp>
      <p:sp>
        <p:nvSpPr>
          <p:cNvPr id="19" name="Text 17"/>
          <p:cNvSpPr/>
          <p:nvPr/>
        </p:nvSpPr>
        <p:spPr>
          <a:xfrm>
            <a:off x="1627632" y="3922776"/>
            <a:ext cx="2286000" cy="51206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Funding-Ask Viability</a:t>
            </a:r>
            <a:endParaRPr lang="en-US" sz="1400" dirty="0"/>
          </a:p>
        </p:txBody>
      </p:sp>
      <p:sp>
        <p:nvSpPr>
          <p:cNvPr id="20" name="Text 18"/>
          <p:cNvSpPr/>
          <p:nvPr/>
        </p:nvSpPr>
        <p:spPr>
          <a:xfrm>
            <a:off x="3931920" y="3922776"/>
            <a:ext cx="1234440" cy="512064"/>
          </a:xfrm>
          <a:prstGeom prst="rect">
            <a:avLst/>
          </a:prstGeom>
          <a:noFill/>
          <a:ln/>
        </p:spPr>
        <p:txBody>
          <a:bodyPr wrap="square" lIns="0" tIns="0" rIns="0" bIns="0" rtlCol="0" anchor="ctr"/>
          <a:lstStyle/>
          <a:p>
            <a:pPr marL="0" indent="0">
              <a:buNone/>
            </a:pPr>
            <a:r>
              <a:rPr lang="en-US" sz="2000" b="1" dirty="0">
                <a:solidFill>
                  <a:srgbClr val="F59E0B"/>
                </a:solidFill>
                <a:latin typeface="Cambria" pitchFamily="34" charset="0"/>
                <a:ea typeface="Cambria" pitchFamily="34" charset="-122"/>
                <a:cs typeface="Cambria" pitchFamily="34" charset="-120"/>
              </a:rPr>
              <a:t>25</a:t>
            </a:r>
            <a:r>
              <a:rPr lang="en-US" sz="1100" dirty="0">
                <a:solidFill>
                  <a:srgbClr val="94A3B8"/>
                </a:solidFill>
                <a:latin typeface="Calibri" pitchFamily="34" charset="0"/>
                <a:ea typeface="Calibri" pitchFamily="34" charset="-122"/>
                <a:cs typeface="Calibri" pitchFamily="34" charset="-120"/>
              </a:rPr>
              <a:t>  weight</a:t>
            </a:r>
            <a:endParaRPr lang="en-US" sz="2000" dirty="0"/>
          </a:p>
        </p:txBody>
      </p:sp>
      <p:sp>
        <p:nvSpPr>
          <p:cNvPr id="21" name="Text 19"/>
          <p:cNvSpPr/>
          <p:nvPr/>
        </p:nvSpPr>
        <p:spPr>
          <a:xfrm>
            <a:off x="5212080" y="3904488"/>
            <a:ext cx="2788920" cy="548640"/>
          </a:xfrm>
          <a:prstGeom prst="rect">
            <a:avLst/>
          </a:prstGeom>
          <a:noFill/>
          <a:ln/>
        </p:spPr>
        <p:txBody>
          <a:bodyPr wrap="square" lIns="0" tIns="0" rIns="0" bIns="0" rtlCol="0" anchor="ctr"/>
          <a:lstStyle/>
          <a:p>
            <a:pPr marL="0" indent="0">
              <a:lnSpc>
                <a:spcPts val="1400"/>
              </a:lnSpc>
              <a:buNone/>
            </a:pPr>
            <a:r>
              <a:rPr lang="en-US" sz="1100" dirty="0">
                <a:solidFill>
                  <a:srgbClr val="CBD5E1"/>
                </a:solidFill>
                <a:latin typeface="Calibri" pitchFamily="34" charset="0"/>
                <a:ea typeface="Calibri" pitchFamily="34" charset="-122"/>
                <a:cs typeface="Calibri" pitchFamily="34" charset="-120"/>
              </a:rPr>
              <a:t>The size of the capital funding ask </a:t>
            </a:r>
            <a:r>
              <a:rPr lang="en-US" sz="1100">
                <a:solidFill>
                  <a:srgbClr val="CBD5E1"/>
                </a:solidFill>
                <a:latin typeface="Calibri" pitchFamily="34" charset="0"/>
                <a:ea typeface="Calibri" pitchFamily="34" charset="-122"/>
                <a:cs typeface="Calibri" pitchFamily="34" charset="-120"/>
              </a:rPr>
              <a:t>relative to the </a:t>
            </a:r>
            <a:r>
              <a:rPr lang="en-US" sz="1100" dirty="0">
                <a:solidFill>
                  <a:srgbClr val="CBD5E1"/>
                </a:solidFill>
                <a:latin typeface="Calibri" pitchFamily="34" charset="0"/>
                <a:ea typeface="Calibri" pitchFamily="34" charset="-122"/>
                <a:cs typeface="Calibri" pitchFamily="34" charset="-120"/>
              </a:rPr>
              <a:t>revenue, plus completeness of the application</a:t>
            </a:r>
            <a:endParaRPr lang="en-US" sz="1100" dirty="0"/>
          </a:p>
        </p:txBody>
      </p:sp>
      <p:sp>
        <p:nvSpPr>
          <p:cNvPr id="22" name="Shape 20"/>
          <p:cNvSpPr/>
          <p:nvPr/>
        </p:nvSpPr>
        <p:spPr>
          <a:xfrm>
            <a:off x="822960" y="4700016"/>
            <a:ext cx="7315200" cy="749808"/>
          </a:xfrm>
          <a:prstGeom prst="roundRect">
            <a:avLst>
              <a:gd name="adj" fmla="val 7317"/>
            </a:avLst>
          </a:prstGeom>
          <a:solidFill>
            <a:srgbClr val="0F1B2E"/>
          </a:solidFill>
          <a:ln w="12700">
            <a:solidFill>
              <a:srgbClr val="334155"/>
            </a:solidFill>
            <a:prstDash val="solid"/>
          </a:ln>
        </p:spPr>
        <p:txBody>
          <a:bodyPr/>
          <a:lstStyle/>
          <a:p>
            <a:endParaRPr lang="en-US"/>
          </a:p>
        </p:txBody>
      </p:sp>
      <p:sp>
        <p:nvSpPr>
          <p:cNvPr id="23" name="Shape 21"/>
          <p:cNvSpPr/>
          <p:nvPr/>
        </p:nvSpPr>
        <p:spPr>
          <a:xfrm>
            <a:off x="1051560" y="4873752"/>
            <a:ext cx="402336" cy="402336"/>
          </a:xfrm>
          <a:prstGeom prst="ellipse">
            <a:avLst/>
          </a:prstGeom>
          <a:solidFill>
            <a:srgbClr val="F87171"/>
          </a:solidFill>
          <a:ln w="12700">
            <a:solidFill>
              <a:srgbClr val="333333"/>
            </a:solidFill>
            <a:prstDash val="solid"/>
          </a:ln>
        </p:spPr>
        <p:txBody>
          <a:bodyPr/>
          <a:lstStyle/>
          <a:p>
            <a:endParaRPr lang="en-US"/>
          </a:p>
        </p:txBody>
      </p:sp>
      <p:sp>
        <p:nvSpPr>
          <p:cNvPr id="24" name="Text 22"/>
          <p:cNvSpPr/>
          <p:nvPr/>
        </p:nvSpPr>
        <p:spPr>
          <a:xfrm>
            <a:off x="1051560" y="4873752"/>
            <a:ext cx="402336" cy="402336"/>
          </a:xfrm>
          <a:prstGeom prst="rect">
            <a:avLst/>
          </a:prstGeom>
          <a:noFill/>
          <a:ln/>
        </p:spPr>
        <p:txBody>
          <a:bodyPr wrap="square" lIns="0" tIns="0" rIns="0" bIns="0" rtlCol="0" anchor="ctr"/>
          <a:lstStyle/>
          <a:p>
            <a:pPr marL="0" indent="0" algn="ctr">
              <a:buNone/>
            </a:pPr>
            <a:r>
              <a:rPr lang="en-US" sz="1700" b="1" dirty="0">
                <a:solidFill>
                  <a:srgbClr val="0F1B2E"/>
                </a:solidFill>
                <a:latin typeface="Cambria" pitchFamily="34" charset="0"/>
                <a:ea typeface="Cambria" pitchFamily="34" charset="-122"/>
                <a:cs typeface="Cambria" pitchFamily="34" charset="-120"/>
              </a:rPr>
              <a:t>4</a:t>
            </a:r>
            <a:endParaRPr lang="en-US" sz="1700" dirty="0"/>
          </a:p>
        </p:txBody>
      </p:sp>
      <p:sp>
        <p:nvSpPr>
          <p:cNvPr id="25" name="Text 23"/>
          <p:cNvSpPr/>
          <p:nvPr/>
        </p:nvSpPr>
        <p:spPr>
          <a:xfrm>
            <a:off x="1627632" y="4818888"/>
            <a:ext cx="2286000" cy="512064"/>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B-BBEE Transformation</a:t>
            </a:r>
            <a:endParaRPr lang="en-US" sz="1400" dirty="0"/>
          </a:p>
        </p:txBody>
      </p:sp>
      <p:sp>
        <p:nvSpPr>
          <p:cNvPr id="26" name="Text 24"/>
          <p:cNvSpPr/>
          <p:nvPr/>
        </p:nvSpPr>
        <p:spPr>
          <a:xfrm>
            <a:off x="3931920" y="4818888"/>
            <a:ext cx="1234440" cy="512064"/>
          </a:xfrm>
          <a:prstGeom prst="rect">
            <a:avLst/>
          </a:prstGeom>
          <a:noFill/>
          <a:ln/>
        </p:spPr>
        <p:txBody>
          <a:bodyPr wrap="square" lIns="0" tIns="0" rIns="0" bIns="0" rtlCol="0" anchor="ctr"/>
          <a:lstStyle/>
          <a:p>
            <a:pPr marL="0" indent="0">
              <a:buNone/>
            </a:pPr>
            <a:r>
              <a:rPr lang="en-US" sz="2000" b="1" dirty="0">
                <a:solidFill>
                  <a:srgbClr val="F87171"/>
                </a:solidFill>
                <a:latin typeface="Cambria" pitchFamily="34" charset="0"/>
                <a:ea typeface="Cambria" pitchFamily="34" charset="-122"/>
                <a:cs typeface="Cambria" pitchFamily="34" charset="-120"/>
              </a:rPr>
              <a:t>20</a:t>
            </a:r>
            <a:r>
              <a:rPr lang="en-US" sz="1100" dirty="0">
                <a:solidFill>
                  <a:srgbClr val="94A3B8"/>
                </a:solidFill>
                <a:latin typeface="Calibri" pitchFamily="34" charset="0"/>
                <a:ea typeface="Calibri" pitchFamily="34" charset="-122"/>
                <a:cs typeface="Calibri" pitchFamily="34" charset="-120"/>
              </a:rPr>
              <a:t>  weight</a:t>
            </a:r>
            <a:endParaRPr lang="en-US" sz="2000" dirty="0"/>
          </a:p>
        </p:txBody>
      </p:sp>
      <p:sp>
        <p:nvSpPr>
          <p:cNvPr id="27" name="Text 25"/>
          <p:cNvSpPr/>
          <p:nvPr/>
        </p:nvSpPr>
        <p:spPr>
          <a:xfrm>
            <a:off x="5212080" y="4800600"/>
            <a:ext cx="2788920" cy="548640"/>
          </a:xfrm>
          <a:prstGeom prst="rect">
            <a:avLst/>
          </a:prstGeom>
          <a:noFill/>
          <a:ln/>
        </p:spPr>
        <p:txBody>
          <a:bodyPr wrap="square" lIns="0" tIns="0" rIns="0" bIns="0" rtlCol="0" anchor="ctr"/>
          <a:lstStyle/>
          <a:p>
            <a:pPr marL="0" indent="0">
              <a:lnSpc>
                <a:spcPts val="1400"/>
              </a:lnSpc>
              <a:buNone/>
            </a:pPr>
            <a:r>
              <a:rPr lang="en-US" sz="1100" dirty="0">
                <a:solidFill>
                  <a:srgbClr val="CBD5E1"/>
                </a:solidFill>
                <a:latin typeface="Calibri" pitchFamily="34" charset="0"/>
                <a:ea typeface="Calibri" pitchFamily="34" charset="-122"/>
                <a:cs typeface="Calibri" pitchFamily="34" charset="-120"/>
              </a:rPr>
              <a:t>B-BBEE level plus Black, women, youth and disabled-person ownership</a:t>
            </a:r>
            <a:endParaRPr lang="en-US" sz="1100" dirty="0"/>
          </a:p>
        </p:txBody>
      </p:sp>
      <p:sp>
        <p:nvSpPr>
          <p:cNvPr id="28" name="Shape 26"/>
          <p:cNvSpPr/>
          <p:nvPr/>
        </p:nvSpPr>
        <p:spPr>
          <a:xfrm>
            <a:off x="8366760" y="2011680"/>
            <a:ext cx="3063240" cy="3584448"/>
          </a:xfrm>
          <a:prstGeom prst="roundRect">
            <a:avLst>
              <a:gd name="adj" fmla="val 2388"/>
            </a:avLst>
          </a:prstGeom>
          <a:solidFill>
            <a:srgbClr val="0F1B2E"/>
          </a:solidFill>
          <a:ln w="12700">
            <a:solidFill>
              <a:srgbClr val="334155"/>
            </a:solidFill>
            <a:prstDash val="solid"/>
          </a:ln>
        </p:spPr>
        <p:txBody>
          <a:bodyPr/>
          <a:lstStyle/>
          <a:p>
            <a:endParaRPr lang="en-US"/>
          </a:p>
        </p:txBody>
      </p:sp>
      <p:sp>
        <p:nvSpPr>
          <p:cNvPr id="29" name="Text 27"/>
          <p:cNvSpPr/>
          <p:nvPr/>
        </p:nvSpPr>
        <p:spPr>
          <a:xfrm>
            <a:off x="8595360" y="2212848"/>
            <a:ext cx="2651760" cy="256032"/>
          </a:xfrm>
          <a:prstGeom prst="rect">
            <a:avLst/>
          </a:prstGeom>
          <a:noFill/>
          <a:ln/>
        </p:spPr>
        <p:txBody>
          <a:bodyPr wrap="square" lIns="0" tIns="0" rIns="0" bIns="0" rtlCol="0" anchor="ctr"/>
          <a:lstStyle/>
          <a:p>
            <a:pPr marL="0" indent="0">
              <a:buNone/>
            </a:pPr>
            <a:r>
              <a:rPr lang="en-US" sz="1100" b="1" kern="0" spc="150" dirty="0">
                <a:solidFill>
                  <a:srgbClr val="2DD4BF"/>
                </a:solidFill>
                <a:latin typeface="Calibri" pitchFamily="34" charset="0"/>
                <a:ea typeface="Calibri" pitchFamily="34" charset="-122"/>
                <a:cs typeface="Calibri" pitchFamily="34" charset="-120"/>
              </a:rPr>
              <a:t>TIER THRESHOLDS</a:t>
            </a:r>
            <a:endParaRPr lang="en-US" sz="1100" dirty="0"/>
          </a:p>
        </p:txBody>
      </p:sp>
      <p:sp>
        <p:nvSpPr>
          <p:cNvPr id="30" name="Shape 28"/>
          <p:cNvSpPr/>
          <p:nvPr/>
        </p:nvSpPr>
        <p:spPr>
          <a:xfrm>
            <a:off x="8595360" y="2660904"/>
            <a:ext cx="118872" cy="118872"/>
          </a:xfrm>
          <a:prstGeom prst="ellipse">
            <a:avLst/>
          </a:prstGeom>
          <a:solidFill>
            <a:srgbClr val="2DD4BF"/>
          </a:solidFill>
          <a:ln w="12700">
            <a:solidFill>
              <a:srgbClr val="333333"/>
            </a:solidFill>
            <a:prstDash val="solid"/>
          </a:ln>
        </p:spPr>
        <p:txBody>
          <a:bodyPr/>
          <a:lstStyle/>
          <a:p>
            <a:endParaRPr lang="en-US"/>
          </a:p>
        </p:txBody>
      </p:sp>
      <p:sp>
        <p:nvSpPr>
          <p:cNvPr id="31" name="Text 29"/>
          <p:cNvSpPr/>
          <p:nvPr/>
        </p:nvSpPr>
        <p:spPr>
          <a:xfrm>
            <a:off x="8796528" y="2578608"/>
            <a:ext cx="1097280" cy="274320"/>
          </a:xfrm>
          <a:prstGeom prst="rect">
            <a:avLst/>
          </a:prstGeom>
          <a:noFill/>
          <a:ln/>
        </p:spPr>
        <p:txBody>
          <a:bodyPr wrap="square" lIns="0" tIns="0" rIns="0" bIns="0" rtlCol="0" anchor="ctr"/>
          <a:lstStyle/>
          <a:p>
            <a:pPr marL="0" indent="0">
              <a:buNone/>
            </a:pPr>
            <a:r>
              <a:rPr lang="en-US" sz="1300" b="1" dirty="0">
                <a:solidFill>
                  <a:srgbClr val="2DD4BF"/>
                </a:solidFill>
                <a:latin typeface="Calibri" pitchFamily="34" charset="0"/>
                <a:ea typeface="Calibri" pitchFamily="34" charset="-122"/>
                <a:cs typeface="Calibri" pitchFamily="34" charset="-120"/>
              </a:rPr>
              <a:t>High</a:t>
            </a:r>
            <a:endParaRPr lang="en-US" sz="1300" dirty="0"/>
          </a:p>
        </p:txBody>
      </p:sp>
      <p:sp>
        <p:nvSpPr>
          <p:cNvPr id="32" name="Text 30"/>
          <p:cNvSpPr/>
          <p:nvPr/>
        </p:nvSpPr>
        <p:spPr>
          <a:xfrm>
            <a:off x="9784080" y="2578608"/>
            <a:ext cx="1463040" cy="274320"/>
          </a:xfrm>
          <a:prstGeom prst="rect">
            <a:avLst/>
          </a:prstGeom>
          <a:noFill/>
          <a:ln/>
        </p:spPr>
        <p:txBody>
          <a:bodyPr wrap="square" lIns="0" tIns="0" rIns="0" bIns="0" rtlCol="0" anchor="ctr"/>
          <a:lstStyle/>
          <a:p>
            <a:pPr marL="0" indent="0" algn="r">
              <a:buNone/>
            </a:pPr>
            <a:r>
              <a:rPr lang="en-US" sz="1300" dirty="0">
                <a:solidFill>
                  <a:srgbClr val="CBD5E1"/>
                </a:solidFill>
                <a:latin typeface="Calibri" pitchFamily="34" charset="0"/>
                <a:ea typeface="Calibri" pitchFamily="34" charset="-122"/>
                <a:cs typeface="Calibri" pitchFamily="34" charset="-120"/>
              </a:rPr>
              <a:t>62 – 100</a:t>
            </a:r>
            <a:endParaRPr lang="en-US" sz="1300" dirty="0"/>
          </a:p>
        </p:txBody>
      </p:sp>
      <p:sp>
        <p:nvSpPr>
          <p:cNvPr id="33" name="Shape 31"/>
          <p:cNvSpPr/>
          <p:nvPr/>
        </p:nvSpPr>
        <p:spPr>
          <a:xfrm>
            <a:off x="8595360" y="3118104"/>
            <a:ext cx="118872" cy="118872"/>
          </a:xfrm>
          <a:prstGeom prst="ellipse">
            <a:avLst/>
          </a:prstGeom>
          <a:solidFill>
            <a:srgbClr val="F59E0B"/>
          </a:solidFill>
          <a:ln w="12700">
            <a:solidFill>
              <a:srgbClr val="333333"/>
            </a:solidFill>
            <a:prstDash val="solid"/>
          </a:ln>
        </p:spPr>
        <p:txBody>
          <a:bodyPr/>
          <a:lstStyle/>
          <a:p>
            <a:endParaRPr lang="en-US"/>
          </a:p>
        </p:txBody>
      </p:sp>
      <p:sp>
        <p:nvSpPr>
          <p:cNvPr id="34" name="Text 32"/>
          <p:cNvSpPr/>
          <p:nvPr/>
        </p:nvSpPr>
        <p:spPr>
          <a:xfrm>
            <a:off x="8796528" y="3035808"/>
            <a:ext cx="1097280" cy="274320"/>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Mid</a:t>
            </a:r>
            <a:endParaRPr lang="en-US" sz="1300" dirty="0"/>
          </a:p>
        </p:txBody>
      </p:sp>
      <p:sp>
        <p:nvSpPr>
          <p:cNvPr id="35" name="Text 33"/>
          <p:cNvSpPr/>
          <p:nvPr/>
        </p:nvSpPr>
        <p:spPr>
          <a:xfrm>
            <a:off x="9784080" y="3035808"/>
            <a:ext cx="1463040" cy="274320"/>
          </a:xfrm>
          <a:prstGeom prst="rect">
            <a:avLst/>
          </a:prstGeom>
          <a:noFill/>
          <a:ln/>
        </p:spPr>
        <p:txBody>
          <a:bodyPr wrap="square" lIns="0" tIns="0" rIns="0" bIns="0" rtlCol="0" anchor="ctr"/>
          <a:lstStyle/>
          <a:p>
            <a:pPr marL="0" indent="0" algn="r">
              <a:buNone/>
            </a:pPr>
            <a:r>
              <a:rPr lang="en-US" sz="1300" dirty="0">
                <a:solidFill>
                  <a:srgbClr val="CBD5E1"/>
                </a:solidFill>
                <a:latin typeface="Calibri" pitchFamily="34" charset="0"/>
                <a:ea typeface="Calibri" pitchFamily="34" charset="-122"/>
                <a:cs typeface="Calibri" pitchFamily="34" charset="-120"/>
              </a:rPr>
              <a:t>48 – 61</a:t>
            </a:r>
            <a:endParaRPr lang="en-US" sz="1300" dirty="0"/>
          </a:p>
        </p:txBody>
      </p:sp>
      <p:sp>
        <p:nvSpPr>
          <p:cNvPr id="36" name="Shape 34"/>
          <p:cNvSpPr/>
          <p:nvPr/>
        </p:nvSpPr>
        <p:spPr>
          <a:xfrm>
            <a:off x="8595360" y="3575304"/>
            <a:ext cx="118872" cy="118872"/>
          </a:xfrm>
          <a:prstGeom prst="ellipse">
            <a:avLst/>
          </a:prstGeom>
          <a:solidFill>
            <a:srgbClr val="F87171"/>
          </a:solidFill>
          <a:ln w="12700">
            <a:solidFill>
              <a:srgbClr val="333333"/>
            </a:solidFill>
            <a:prstDash val="solid"/>
          </a:ln>
        </p:spPr>
        <p:txBody>
          <a:bodyPr/>
          <a:lstStyle/>
          <a:p>
            <a:endParaRPr lang="en-US"/>
          </a:p>
        </p:txBody>
      </p:sp>
      <p:sp>
        <p:nvSpPr>
          <p:cNvPr id="37" name="Text 35"/>
          <p:cNvSpPr/>
          <p:nvPr/>
        </p:nvSpPr>
        <p:spPr>
          <a:xfrm>
            <a:off x="8796528" y="3493008"/>
            <a:ext cx="1097280" cy="274320"/>
          </a:xfrm>
          <a:prstGeom prst="rect">
            <a:avLst/>
          </a:prstGeom>
          <a:noFill/>
          <a:ln/>
        </p:spPr>
        <p:txBody>
          <a:bodyPr wrap="square" lIns="0" tIns="0" rIns="0" bIns="0" rtlCol="0" anchor="ctr"/>
          <a:lstStyle/>
          <a:p>
            <a:pPr marL="0" indent="0">
              <a:buNone/>
            </a:pPr>
            <a:r>
              <a:rPr lang="en-US" sz="1300" b="1" dirty="0">
                <a:solidFill>
                  <a:srgbClr val="F87171"/>
                </a:solidFill>
                <a:latin typeface="Calibri" pitchFamily="34" charset="0"/>
                <a:ea typeface="Calibri" pitchFamily="34" charset="-122"/>
                <a:cs typeface="Calibri" pitchFamily="34" charset="-120"/>
              </a:rPr>
              <a:t>Low</a:t>
            </a:r>
            <a:endParaRPr lang="en-US" sz="1300" dirty="0"/>
          </a:p>
        </p:txBody>
      </p:sp>
      <p:sp>
        <p:nvSpPr>
          <p:cNvPr id="38" name="Text 36"/>
          <p:cNvSpPr/>
          <p:nvPr/>
        </p:nvSpPr>
        <p:spPr>
          <a:xfrm>
            <a:off x="9784080" y="3493008"/>
            <a:ext cx="1463040" cy="274320"/>
          </a:xfrm>
          <a:prstGeom prst="rect">
            <a:avLst/>
          </a:prstGeom>
          <a:noFill/>
          <a:ln/>
        </p:spPr>
        <p:txBody>
          <a:bodyPr wrap="square" lIns="0" tIns="0" rIns="0" bIns="0" rtlCol="0" anchor="ctr"/>
          <a:lstStyle/>
          <a:p>
            <a:pPr marL="0" indent="0" algn="r">
              <a:buNone/>
            </a:pPr>
            <a:r>
              <a:rPr lang="en-US" sz="1300" dirty="0">
                <a:solidFill>
                  <a:srgbClr val="CBD5E1"/>
                </a:solidFill>
                <a:latin typeface="Calibri" pitchFamily="34" charset="0"/>
                <a:ea typeface="Calibri" pitchFamily="34" charset="-122"/>
                <a:cs typeface="Calibri" pitchFamily="34" charset="-120"/>
              </a:rPr>
              <a:t>0 – 47</a:t>
            </a:r>
            <a:endParaRPr lang="en-US" sz="1300" dirty="0"/>
          </a:p>
        </p:txBody>
      </p:sp>
      <p:sp>
        <p:nvSpPr>
          <p:cNvPr id="39" name="Text 37"/>
          <p:cNvSpPr/>
          <p:nvPr/>
        </p:nvSpPr>
        <p:spPr>
          <a:xfrm>
            <a:off x="8595360" y="4114800"/>
            <a:ext cx="2651760" cy="256032"/>
          </a:xfrm>
          <a:prstGeom prst="rect">
            <a:avLst/>
          </a:prstGeom>
          <a:noFill/>
          <a:ln/>
        </p:spPr>
        <p:txBody>
          <a:bodyPr wrap="square" lIns="0" tIns="0" rIns="0" bIns="0" rtlCol="0" anchor="ctr"/>
          <a:lstStyle/>
          <a:p>
            <a:pPr marL="0" indent="0">
              <a:buNone/>
            </a:pPr>
            <a:r>
              <a:rPr lang="en-US" sz="1100" b="1" kern="0" spc="150" dirty="0">
                <a:solidFill>
                  <a:srgbClr val="2DD4BF"/>
                </a:solidFill>
                <a:latin typeface="Calibri" pitchFamily="34" charset="0"/>
                <a:ea typeface="Calibri" pitchFamily="34" charset="-122"/>
                <a:cs typeface="Calibri" pitchFamily="34" charset="-120"/>
              </a:rPr>
              <a:t>THE FAIRNESS RULE</a:t>
            </a:r>
            <a:endParaRPr lang="en-US" sz="1100" dirty="0"/>
          </a:p>
        </p:txBody>
      </p:sp>
      <p:sp>
        <p:nvSpPr>
          <p:cNvPr id="40" name="Text 38"/>
          <p:cNvSpPr/>
          <p:nvPr/>
        </p:nvSpPr>
        <p:spPr>
          <a:xfrm>
            <a:off x="8595360" y="4434840"/>
            <a:ext cx="2606040" cy="1005840"/>
          </a:xfrm>
          <a:prstGeom prst="rect">
            <a:avLst/>
          </a:prstGeom>
          <a:noFill/>
          <a:ln/>
        </p:spPr>
        <p:txBody>
          <a:bodyPr wrap="square" lIns="0" tIns="0" rIns="0" bIns="0" rtlCol="0" anchor="ctr"/>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A missing answer scores neutral (0.5 points), never zero. No business is penalised for a gap the form itself created, which is why the Low tier is a group to be worked on, not a final assessment of their </a:t>
            </a:r>
            <a:r>
              <a:rPr lang="en-US" sz="1150" dirty="0">
                <a:solidFill>
                  <a:srgbClr val="CBD5E1"/>
                </a:solidFill>
                <a:latin typeface="Calibri" pitchFamily="34" charset="0"/>
                <a:ea typeface="Calibri" pitchFamily="34" charset="-122"/>
                <a:cs typeface="Calibri" pitchFamily="34" charset="-120"/>
              </a:rPr>
              <a:t>viability</a:t>
            </a:r>
            <a:r>
              <a:rPr lang="en-US" sz="1150" dirty="0">
                <a:solidFill>
                  <a:srgbClr val="CBD5E1"/>
                </a:solidFill>
                <a:latin typeface="Calibri" pitchFamily="34" charset="0"/>
                <a:ea typeface="Calibri" pitchFamily="34" charset="-122"/>
                <a:cs typeface="Calibri" pitchFamily="34" charset="-120"/>
              </a:rPr>
              <a:t> </a:t>
            </a:r>
            <a:endParaRPr lang="en-US" sz="1150" dirty="0"/>
          </a:p>
        </p:txBody>
      </p:sp>
      <p:sp>
        <p:nvSpPr>
          <p:cNvPr id="41" name="Text 39"/>
          <p:cNvSpPr/>
          <p:nvPr/>
        </p:nvSpPr>
        <p:spPr>
          <a:xfrm>
            <a:off x="822960" y="5806440"/>
            <a:ext cx="10515600" cy="32004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The thresholds are fixed, so a tier keeps the same meaning when the next round of applications is scored.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411480"/>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pipeline skews viable</a:t>
            </a:r>
            <a:endParaRPr lang="en-US" sz="3000" dirty="0"/>
          </a:p>
        </p:txBody>
      </p:sp>
      <p:sp>
        <p:nvSpPr>
          <p:cNvPr id="3" name="Text 1"/>
          <p:cNvSpPr/>
          <p:nvPr/>
        </p:nvSpPr>
        <p:spPr>
          <a:xfrm>
            <a:off x="822960" y="987552"/>
            <a:ext cx="10515600" cy="41148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Distribution of all 1,116 scored SMEs across the three funding-readiness tiers.</a:t>
            </a:r>
            <a:endParaRPr lang="en-US" sz="1400" dirty="0"/>
          </a:p>
        </p:txBody>
      </p:sp>
      <p:pic>
        <p:nvPicPr>
          <p:cNvPr id="4" name="Image 0" descr="/sessions/hopeful-festive-mayer/mnt/outputs/charts/chart1.png"/>
          <p:cNvPicPr>
            <a:picLocks noChangeAspect="1"/>
          </p:cNvPicPr>
          <p:nvPr/>
        </p:nvPicPr>
        <p:blipFill>
          <a:blip r:embed="rId3"/>
          <a:stretch>
            <a:fillRect/>
          </a:stretch>
        </p:blipFill>
        <p:spPr>
          <a:xfrm>
            <a:off x="1234439" y="1512354"/>
            <a:ext cx="5770209" cy="4156926"/>
          </a:xfrm>
          <a:prstGeom prst="rect">
            <a:avLst/>
          </a:prstGeom>
        </p:spPr>
      </p:pic>
      <p:sp>
        <p:nvSpPr>
          <p:cNvPr id="5" name="Text 2"/>
          <p:cNvSpPr/>
          <p:nvPr/>
        </p:nvSpPr>
        <p:spPr>
          <a:xfrm>
            <a:off x="822960" y="5806440"/>
            <a:ext cx="7315200" cy="365760"/>
          </a:xfrm>
          <a:prstGeom prst="rect">
            <a:avLst/>
          </a:prstGeom>
          <a:noFill/>
          <a:ln/>
        </p:spPr>
        <p:txBody>
          <a:bodyPr wrap="square" lIns="0" tIns="0" rIns="0" bIns="0" rtlCol="0" anchor="ctr"/>
          <a:lstStyle/>
          <a:p>
            <a:pPr marL="0" indent="0">
              <a:buNone/>
            </a:pPr>
            <a:r>
              <a:rPr lang="en-US" sz="1250" i="1" dirty="0">
                <a:solidFill>
                  <a:srgbClr val="2DD4BF"/>
                </a:solidFill>
                <a:latin typeface="Calibri" pitchFamily="34" charset="0"/>
                <a:ea typeface="Calibri" pitchFamily="34" charset="-122"/>
                <a:cs typeface="Calibri" pitchFamily="34" charset="-120"/>
              </a:rPr>
              <a:t>High and Mid together — 840 businesses — outnumber the Low tier 3 to 1.</a:t>
            </a:r>
            <a:endParaRPr lang="en-US" sz="1250" dirty="0"/>
          </a:p>
        </p:txBody>
      </p:sp>
      <p:sp>
        <p:nvSpPr>
          <p:cNvPr id="6" name="Shape 3"/>
          <p:cNvSpPr/>
          <p:nvPr/>
        </p:nvSpPr>
        <p:spPr>
          <a:xfrm>
            <a:off x="8366760" y="1627632"/>
            <a:ext cx="3063240" cy="4462272"/>
          </a:xfrm>
          <a:prstGeom prst="roundRect">
            <a:avLst>
              <a:gd name="adj" fmla="val 2388"/>
            </a:avLst>
          </a:prstGeom>
          <a:solidFill>
            <a:srgbClr val="0F1B2E"/>
          </a:solidFill>
          <a:ln w="12700">
            <a:solidFill>
              <a:srgbClr val="334155"/>
            </a:solidFill>
            <a:prstDash val="solid"/>
          </a:ln>
        </p:spPr>
        <p:txBody>
          <a:bodyPr/>
          <a:lstStyle/>
          <a:p>
            <a:endParaRPr lang="en-US"/>
          </a:p>
        </p:txBody>
      </p:sp>
      <p:sp>
        <p:nvSpPr>
          <p:cNvPr id="7" name="Text 4"/>
          <p:cNvSpPr/>
          <p:nvPr/>
        </p:nvSpPr>
        <p:spPr>
          <a:xfrm>
            <a:off x="8595360" y="1810512"/>
            <a:ext cx="2606040" cy="256032"/>
          </a:xfrm>
          <a:prstGeom prst="rect">
            <a:avLst/>
          </a:prstGeom>
          <a:noFill/>
          <a:ln/>
        </p:spPr>
        <p:txBody>
          <a:bodyPr wrap="square" lIns="0" tIns="0" rIns="0" bIns="0" rtlCol="0" anchor="ctr"/>
          <a:lstStyle/>
          <a:p>
            <a:pPr marL="0" indent="0">
              <a:buNone/>
            </a:pPr>
            <a:r>
              <a:rPr lang="en-US" sz="1100" b="1" kern="0" spc="150" dirty="0">
                <a:solidFill>
                  <a:srgbClr val="2DD4BF"/>
                </a:solidFill>
                <a:latin typeface="Calibri" pitchFamily="34" charset="0"/>
                <a:ea typeface="Calibri" pitchFamily="34" charset="-122"/>
                <a:cs typeface="Calibri" pitchFamily="34" charset="-120"/>
              </a:rPr>
              <a:t>WHAT IT SHOWS</a:t>
            </a:r>
            <a:endParaRPr lang="en-US" sz="1100" dirty="0"/>
          </a:p>
        </p:txBody>
      </p:sp>
      <p:sp>
        <p:nvSpPr>
          <p:cNvPr id="8" name="Shape 5"/>
          <p:cNvSpPr/>
          <p:nvPr/>
        </p:nvSpPr>
        <p:spPr>
          <a:xfrm>
            <a:off x="8595360" y="2363724"/>
            <a:ext cx="118872" cy="118872"/>
          </a:xfrm>
          <a:prstGeom prst="ellipse">
            <a:avLst/>
          </a:prstGeom>
          <a:solidFill>
            <a:srgbClr val="2DD4BF"/>
          </a:solidFill>
          <a:ln w="12700">
            <a:solidFill>
              <a:srgbClr val="333333"/>
            </a:solidFill>
            <a:prstDash val="solid"/>
          </a:ln>
        </p:spPr>
        <p:txBody>
          <a:bodyPr/>
          <a:lstStyle/>
          <a:p>
            <a:endParaRPr lang="en-US"/>
          </a:p>
        </p:txBody>
      </p:sp>
      <p:sp>
        <p:nvSpPr>
          <p:cNvPr id="9" name="Text 6"/>
          <p:cNvSpPr/>
          <p:nvPr/>
        </p:nvSpPr>
        <p:spPr>
          <a:xfrm>
            <a:off x="8787384" y="2286000"/>
            <a:ext cx="242316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A shortlist exists today</a:t>
            </a:r>
            <a:endParaRPr lang="en-US" sz="1200" dirty="0"/>
          </a:p>
        </p:txBody>
      </p:sp>
      <p:sp>
        <p:nvSpPr>
          <p:cNvPr id="10" name="Text 7"/>
          <p:cNvSpPr/>
          <p:nvPr/>
        </p:nvSpPr>
        <p:spPr>
          <a:xfrm>
            <a:off x="8595360" y="267004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245 need no preparation. Prior rounds matched 90 businesses in 2023 and 190 in 2024 — those were completed matches; this is a ready shortlist.</a:t>
            </a:r>
            <a:endParaRPr lang="en-US" sz="1150" dirty="0"/>
          </a:p>
        </p:txBody>
      </p:sp>
      <p:sp>
        <p:nvSpPr>
          <p:cNvPr id="11" name="Shape 8"/>
          <p:cNvSpPr/>
          <p:nvPr/>
        </p:nvSpPr>
        <p:spPr>
          <a:xfrm>
            <a:off x="8595360" y="3594354"/>
            <a:ext cx="118872" cy="118872"/>
          </a:xfrm>
          <a:prstGeom prst="ellipse">
            <a:avLst/>
          </a:prstGeom>
          <a:solidFill>
            <a:srgbClr val="F59E0B"/>
          </a:solidFill>
          <a:ln w="12700">
            <a:solidFill>
              <a:srgbClr val="333333"/>
            </a:solidFill>
            <a:prstDash val="solid"/>
          </a:ln>
        </p:spPr>
        <p:txBody>
          <a:bodyPr/>
          <a:lstStyle/>
          <a:p>
            <a:endParaRPr lang="en-US"/>
          </a:p>
        </p:txBody>
      </p:sp>
      <p:sp>
        <p:nvSpPr>
          <p:cNvPr id="12" name="Text 9"/>
          <p:cNvSpPr/>
          <p:nvPr/>
        </p:nvSpPr>
        <p:spPr>
          <a:xfrm>
            <a:off x="8787384" y="3516630"/>
            <a:ext cx="2423160" cy="27432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The middle is the real prize</a:t>
            </a:r>
            <a:endParaRPr lang="en-US" sz="1200" dirty="0"/>
          </a:p>
        </p:txBody>
      </p:sp>
      <p:sp>
        <p:nvSpPr>
          <p:cNvPr id="13" name="Text 10"/>
          <p:cNvSpPr/>
          <p:nvPr/>
        </p:nvSpPr>
        <p:spPr>
          <a:xfrm>
            <a:off x="8595360" y="390067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At 53.3%, too large to work case by case. Only a batched process can move it.</a:t>
            </a:r>
            <a:endParaRPr lang="en-US" sz="1150" dirty="0"/>
          </a:p>
        </p:txBody>
      </p:sp>
      <p:sp>
        <p:nvSpPr>
          <p:cNvPr id="14" name="Shape 11"/>
          <p:cNvSpPr/>
          <p:nvPr/>
        </p:nvSpPr>
        <p:spPr>
          <a:xfrm>
            <a:off x="8595360" y="4824984"/>
            <a:ext cx="118872" cy="118872"/>
          </a:xfrm>
          <a:prstGeom prst="ellipse">
            <a:avLst/>
          </a:prstGeom>
          <a:solidFill>
            <a:srgbClr val="F87171"/>
          </a:solidFill>
          <a:ln w="12700">
            <a:solidFill>
              <a:srgbClr val="333333"/>
            </a:solidFill>
            <a:prstDash val="solid"/>
          </a:ln>
        </p:spPr>
        <p:txBody>
          <a:bodyPr/>
          <a:lstStyle/>
          <a:p>
            <a:endParaRPr lang="en-US"/>
          </a:p>
        </p:txBody>
      </p:sp>
      <p:sp>
        <p:nvSpPr>
          <p:cNvPr id="15" name="Text 12"/>
          <p:cNvSpPr/>
          <p:nvPr/>
        </p:nvSpPr>
        <p:spPr>
          <a:xfrm>
            <a:off x="8787384" y="4747260"/>
            <a:ext cx="2423160" cy="274320"/>
          </a:xfrm>
          <a:prstGeom prst="rect">
            <a:avLst/>
          </a:prstGeom>
          <a:noFill/>
          <a:ln/>
        </p:spPr>
        <p:txBody>
          <a:bodyPr wrap="square" lIns="0" tIns="0" rIns="0" bIns="0" rtlCol="0" anchor="ctr"/>
          <a:lstStyle/>
          <a:p>
            <a:pPr marL="0" indent="0">
              <a:buNone/>
            </a:pPr>
            <a:r>
              <a:rPr lang="en-US" sz="1200" b="1" dirty="0">
                <a:solidFill>
                  <a:srgbClr val="F87171"/>
                </a:solidFill>
                <a:latin typeface="Calibri" pitchFamily="34" charset="0"/>
                <a:ea typeface="Calibri" pitchFamily="34" charset="-122"/>
                <a:cs typeface="Calibri" pitchFamily="34" charset="-120"/>
              </a:rPr>
              <a:t>The bottom is defined, not lost</a:t>
            </a:r>
            <a:endParaRPr lang="en-US" sz="1200" dirty="0"/>
          </a:p>
        </p:txBody>
      </p:sp>
      <p:sp>
        <p:nvSpPr>
          <p:cNvPr id="16" name="Text 13"/>
          <p:cNvSpPr/>
          <p:nvPr/>
        </p:nvSpPr>
        <p:spPr>
          <a:xfrm>
            <a:off x="8595360" y="5131308"/>
            <a:ext cx="2606040" cy="39370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24.7% need remediation first. A finite, plannable workload.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411480"/>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tiers are genuinely distinct</a:t>
            </a:r>
            <a:endParaRPr lang="en-US" sz="3000" dirty="0"/>
          </a:p>
        </p:txBody>
      </p:sp>
      <p:sp>
        <p:nvSpPr>
          <p:cNvPr id="3" name="Text 1"/>
          <p:cNvSpPr/>
          <p:nvPr/>
        </p:nvSpPr>
        <p:spPr>
          <a:xfrm>
            <a:off x="822960" y="987552"/>
            <a:ext cx="10515600" cy="41148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Average funding readiness score by tier — the separation is wide enough to act on.</a:t>
            </a:r>
            <a:endParaRPr lang="en-US" sz="1400" dirty="0"/>
          </a:p>
        </p:txBody>
      </p:sp>
      <p:sp>
        <p:nvSpPr>
          <p:cNvPr id="4" name="Shape 2"/>
          <p:cNvSpPr/>
          <p:nvPr/>
        </p:nvSpPr>
        <p:spPr>
          <a:xfrm>
            <a:off x="1417320" y="1600200"/>
            <a:ext cx="9326880" cy="3063240"/>
          </a:xfrm>
          <a:prstGeom prst="roundRect">
            <a:avLst>
              <a:gd name="adj" fmla="val 2388"/>
            </a:avLst>
          </a:prstGeom>
          <a:solidFill>
            <a:srgbClr val="0F1B2E"/>
          </a:solidFill>
          <a:ln w="12700">
            <a:solidFill>
              <a:srgbClr val="334155"/>
            </a:solidFill>
            <a:prstDash val="solid"/>
          </a:ln>
        </p:spPr>
        <p:txBody>
          <a:bodyPr/>
          <a:lstStyle/>
          <a:p>
            <a:endParaRPr lang="en-US"/>
          </a:p>
        </p:txBody>
      </p:sp>
      <p:pic>
        <p:nvPicPr>
          <p:cNvPr id="5" name="Image 0" descr="/sessions/hopeful-festive-mayer/mnt/outputs/charts/chart2.png"/>
          <p:cNvPicPr>
            <a:picLocks noChangeAspect="1"/>
          </p:cNvPicPr>
          <p:nvPr/>
        </p:nvPicPr>
        <p:blipFill>
          <a:blip r:embed="rId3"/>
          <a:stretch>
            <a:fillRect/>
          </a:stretch>
        </p:blipFill>
        <p:spPr>
          <a:xfrm>
            <a:off x="1737360" y="1874520"/>
            <a:ext cx="8686800" cy="2642616"/>
          </a:xfrm>
          <a:prstGeom prst="rect">
            <a:avLst/>
          </a:prstGeom>
        </p:spPr>
      </p:pic>
      <p:sp>
        <p:nvSpPr>
          <p:cNvPr id="6" name="Shape 3"/>
          <p:cNvSpPr/>
          <p:nvPr/>
        </p:nvSpPr>
        <p:spPr>
          <a:xfrm>
            <a:off x="822960" y="4846320"/>
            <a:ext cx="3429000" cy="1417320"/>
          </a:xfrm>
          <a:prstGeom prst="roundRect">
            <a:avLst>
              <a:gd name="adj" fmla="val 5161"/>
            </a:avLst>
          </a:prstGeom>
          <a:solidFill>
            <a:srgbClr val="0F1B2E"/>
          </a:solidFill>
          <a:ln w="12700">
            <a:solidFill>
              <a:srgbClr val="334155"/>
            </a:solidFill>
            <a:prstDash val="solid"/>
          </a:ln>
        </p:spPr>
        <p:txBody>
          <a:bodyPr/>
          <a:lstStyle/>
          <a:p>
            <a:endParaRPr lang="en-US"/>
          </a:p>
        </p:txBody>
      </p:sp>
      <p:sp>
        <p:nvSpPr>
          <p:cNvPr id="7" name="Text 4"/>
          <p:cNvSpPr/>
          <p:nvPr/>
        </p:nvSpPr>
        <p:spPr>
          <a:xfrm>
            <a:off x="1097280" y="5010912"/>
            <a:ext cx="2926080" cy="384048"/>
          </a:xfrm>
          <a:prstGeom prst="rect">
            <a:avLst/>
          </a:prstGeom>
          <a:noFill/>
          <a:ln/>
        </p:spPr>
        <p:txBody>
          <a:bodyPr wrap="square" lIns="0" tIns="0" rIns="0" bIns="0" rtlCol="0" anchor="ctr"/>
          <a:lstStyle/>
          <a:p>
            <a:pPr marL="0" indent="0">
              <a:buNone/>
            </a:pPr>
            <a:r>
              <a:rPr lang="en-US" sz="2000" b="1" dirty="0">
                <a:solidFill>
                  <a:srgbClr val="2DD4BF"/>
                </a:solidFill>
                <a:latin typeface="Cambria" pitchFamily="34" charset="0"/>
                <a:ea typeface="Cambria" pitchFamily="34" charset="-122"/>
                <a:cs typeface="Cambria" pitchFamily="34" charset="-120"/>
              </a:rPr>
              <a:t>26.5 points</a:t>
            </a:r>
            <a:endParaRPr lang="en-US" sz="2000" dirty="0"/>
          </a:p>
        </p:txBody>
      </p:sp>
      <p:sp>
        <p:nvSpPr>
          <p:cNvPr id="8" name="Text 5"/>
          <p:cNvSpPr/>
          <p:nvPr/>
        </p:nvSpPr>
        <p:spPr>
          <a:xfrm>
            <a:off x="1097280" y="5413248"/>
            <a:ext cx="2880360" cy="777240"/>
          </a:xfrm>
          <a:prstGeom prst="rect">
            <a:avLst/>
          </a:prstGeom>
          <a:noFill/>
          <a:ln/>
        </p:spPr>
        <p:txBody>
          <a:bodyPr wrap="square" lIns="0" tIns="0" rIns="0" bIns="0" rtlCol="0" anchor="ctr"/>
          <a:lstStyle/>
          <a:p>
            <a:pPr marL="0" indent="0">
              <a:lnSpc>
                <a:spcPts val="1400"/>
              </a:lnSpc>
              <a:buNone/>
            </a:pPr>
            <a:r>
              <a:rPr lang="en-US" sz="1100" dirty="0">
                <a:solidFill>
                  <a:srgbClr val="CBD5E1"/>
                </a:solidFill>
                <a:latin typeface="Calibri" pitchFamily="34" charset="0"/>
                <a:ea typeface="Calibri" pitchFamily="34" charset="-122"/>
                <a:cs typeface="Calibri" pitchFamily="34" charset="-120"/>
              </a:rPr>
              <a:t>separate the High tier average (68.5) from the Low tier average (42.0). These are not marginal distinctions.</a:t>
            </a:r>
            <a:endParaRPr lang="en-US" sz="1100" dirty="0"/>
          </a:p>
        </p:txBody>
      </p:sp>
      <p:sp>
        <p:nvSpPr>
          <p:cNvPr id="9" name="Shape 6"/>
          <p:cNvSpPr/>
          <p:nvPr/>
        </p:nvSpPr>
        <p:spPr>
          <a:xfrm>
            <a:off x="4617720" y="4846320"/>
            <a:ext cx="3429000" cy="1417320"/>
          </a:xfrm>
          <a:prstGeom prst="roundRect">
            <a:avLst>
              <a:gd name="adj" fmla="val 5161"/>
            </a:avLst>
          </a:prstGeom>
          <a:solidFill>
            <a:srgbClr val="0F1B2E"/>
          </a:solidFill>
          <a:ln w="12700">
            <a:solidFill>
              <a:srgbClr val="334155"/>
            </a:solidFill>
            <a:prstDash val="solid"/>
          </a:ln>
        </p:spPr>
        <p:txBody>
          <a:bodyPr/>
          <a:lstStyle/>
          <a:p>
            <a:endParaRPr lang="en-US"/>
          </a:p>
        </p:txBody>
      </p:sp>
      <p:sp>
        <p:nvSpPr>
          <p:cNvPr id="10" name="Text 7"/>
          <p:cNvSpPr/>
          <p:nvPr/>
        </p:nvSpPr>
        <p:spPr>
          <a:xfrm>
            <a:off x="4892040" y="5010912"/>
            <a:ext cx="2926080" cy="384048"/>
          </a:xfrm>
          <a:prstGeom prst="rect">
            <a:avLst/>
          </a:prstGeom>
          <a:noFill/>
          <a:ln/>
        </p:spPr>
        <p:txBody>
          <a:bodyPr wrap="square" lIns="0" tIns="0" rIns="0" bIns="0" rtlCol="0" anchor="ctr"/>
          <a:lstStyle/>
          <a:p>
            <a:pPr marL="0" indent="0">
              <a:buNone/>
            </a:pPr>
            <a:r>
              <a:rPr lang="en-US" sz="2000" b="1" dirty="0">
                <a:solidFill>
                  <a:srgbClr val="F59E0B"/>
                </a:solidFill>
                <a:latin typeface="Cambria" pitchFamily="34" charset="0"/>
                <a:ea typeface="Cambria" pitchFamily="34" charset="-122"/>
                <a:cs typeface="Cambria" pitchFamily="34" charset="-120"/>
              </a:rPr>
              <a:t>54.8 / 100</a:t>
            </a:r>
            <a:endParaRPr lang="en-US" sz="2000" dirty="0"/>
          </a:p>
        </p:txBody>
      </p:sp>
      <p:sp>
        <p:nvSpPr>
          <p:cNvPr id="11" name="Text 8"/>
          <p:cNvSpPr/>
          <p:nvPr/>
        </p:nvSpPr>
        <p:spPr>
          <a:xfrm>
            <a:off x="4892040" y="5413248"/>
            <a:ext cx="2880360" cy="777240"/>
          </a:xfrm>
          <a:prstGeom prst="rect">
            <a:avLst/>
          </a:prstGeom>
          <a:noFill/>
          <a:ln/>
        </p:spPr>
        <p:txBody>
          <a:bodyPr wrap="square" lIns="0" tIns="0" rIns="0" bIns="0" rtlCol="0" anchor="ctr"/>
          <a:lstStyle/>
          <a:p>
            <a:pPr marL="0" indent="0">
              <a:lnSpc>
                <a:spcPts val="1400"/>
              </a:lnSpc>
              <a:buNone/>
            </a:pPr>
            <a:r>
              <a:rPr lang="en-US" sz="1100" dirty="0">
                <a:solidFill>
                  <a:srgbClr val="CBD5E1"/>
                </a:solidFill>
                <a:latin typeface="Calibri" pitchFamily="34" charset="0"/>
                <a:ea typeface="Calibri" pitchFamily="34" charset="-122"/>
                <a:cs typeface="Calibri" pitchFamily="34" charset="-120"/>
              </a:rPr>
              <a:t>is the pool average — it sits inside the Mid band, confirming that the typical applicant is a real business with fixable gaps.</a:t>
            </a:r>
            <a:endParaRPr lang="en-US" sz="1100" dirty="0"/>
          </a:p>
        </p:txBody>
      </p:sp>
      <p:sp>
        <p:nvSpPr>
          <p:cNvPr id="12" name="Shape 9"/>
          <p:cNvSpPr/>
          <p:nvPr/>
        </p:nvSpPr>
        <p:spPr>
          <a:xfrm>
            <a:off x="8412480" y="4846320"/>
            <a:ext cx="3429000" cy="1417320"/>
          </a:xfrm>
          <a:prstGeom prst="roundRect">
            <a:avLst>
              <a:gd name="adj" fmla="val 5161"/>
            </a:avLst>
          </a:prstGeom>
          <a:solidFill>
            <a:srgbClr val="0F1B2E"/>
          </a:solidFill>
          <a:ln w="12700">
            <a:solidFill>
              <a:srgbClr val="334155"/>
            </a:solidFill>
            <a:prstDash val="solid"/>
          </a:ln>
        </p:spPr>
        <p:txBody>
          <a:bodyPr/>
          <a:lstStyle/>
          <a:p>
            <a:endParaRPr lang="en-US"/>
          </a:p>
        </p:txBody>
      </p:sp>
      <p:sp>
        <p:nvSpPr>
          <p:cNvPr id="13" name="Text 10"/>
          <p:cNvSpPr/>
          <p:nvPr/>
        </p:nvSpPr>
        <p:spPr>
          <a:xfrm>
            <a:off x="8686800" y="5010912"/>
            <a:ext cx="2926080" cy="384048"/>
          </a:xfrm>
          <a:prstGeom prst="rect">
            <a:avLst/>
          </a:prstGeom>
          <a:noFill/>
          <a:ln/>
        </p:spPr>
        <p:txBody>
          <a:bodyPr wrap="square" lIns="0" tIns="0" rIns="0" bIns="0" rtlCol="0" anchor="ctr"/>
          <a:lstStyle/>
          <a:p>
            <a:pPr marL="0" indent="0">
              <a:buNone/>
            </a:pPr>
            <a:r>
              <a:rPr lang="en-US" sz="2000" b="1" dirty="0">
                <a:solidFill>
                  <a:srgbClr val="F87171"/>
                </a:solidFill>
                <a:latin typeface="Cambria" pitchFamily="34" charset="0"/>
                <a:ea typeface="Cambria" pitchFamily="34" charset="-122"/>
                <a:cs typeface="Cambria" pitchFamily="34" charset="-120"/>
              </a:rPr>
              <a:t>13.2 points</a:t>
            </a:r>
            <a:endParaRPr lang="en-US" sz="2000" dirty="0"/>
          </a:p>
        </p:txBody>
      </p:sp>
      <p:sp>
        <p:nvSpPr>
          <p:cNvPr id="14" name="Text 11"/>
          <p:cNvSpPr/>
          <p:nvPr/>
        </p:nvSpPr>
        <p:spPr>
          <a:xfrm>
            <a:off x="8686800" y="5413248"/>
            <a:ext cx="2880360" cy="777240"/>
          </a:xfrm>
          <a:prstGeom prst="rect">
            <a:avLst/>
          </a:prstGeom>
          <a:noFill/>
          <a:ln/>
        </p:spPr>
        <p:txBody>
          <a:bodyPr wrap="square" lIns="0" tIns="0" rIns="0" bIns="0" rtlCol="0" anchor="ctr"/>
          <a:lstStyle/>
          <a:p>
            <a:pPr marL="0" indent="0">
              <a:lnSpc>
                <a:spcPts val="1400"/>
              </a:lnSpc>
              <a:buNone/>
            </a:pPr>
            <a:r>
              <a:rPr lang="en-US" sz="1100" dirty="0">
                <a:solidFill>
                  <a:srgbClr val="CBD5E1"/>
                </a:solidFill>
                <a:latin typeface="Calibri" pitchFamily="34" charset="0"/>
                <a:ea typeface="Calibri" pitchFamily="34" charset="-122"/>
                <a:cs typeface="Calibri" pitchFamily="34" charset="-120"/>
              </a:rPr>
              <a:t>separate the Mid tier average (55.2) from the Low tier average (42.0) — the gap the development programme has to close.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411480"/>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Ask versus revenue: the risk signal</a:t>
            </a:r>
            <a:endParaRPr lang="en-US" sz="3000" dirty="0"/>
          </a:p>
        </p:txBody>
      </p:sp>
      <p:sp>
        <p:nvSpPr>
          <p:cNvPr id="3" name="Text 1"/>
          <p:cNvSpPr/>
          <p:nvPr/>
        </p:nvSpPr>
        <p:spPr>
          <a:xfrm>
            <a:off x="822960" y="987552"/>
            <a:ext cx="10515600" cy="41148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Total capital requested against total revenue generated, by tier.</a:t>
            </a:r>
            <a:endParaRPr lang="en-US" sz="1400" dirty="0"/>
          </a:p>
        </p:txBody>
      </p:sp>
      <p:pic>
        <p:nvPicPr>
          <p:cNvPr id="4" name="Image 0" descr="/sessions/hopeful-festive-mayer/mnt/outputs/charts/chart5.png"/>
          <p:cNvPicPr>
            <a:picLocks noChangeAspect="1"/>
          </p:cNvPicPr>
          <p:nvPr/>
        </p:nvPicPr>
        <p:blipFill>
          <a:blip r:embed="rId3"/>
          <a:stretch>
            <a:fillRect/>
          </a:stretch>
        </p:blipFill>
        <p:spPr>
          <a:xfrm>
            <a:off x="914400" y="1627632"/>
            <a:ext cx="6848856" cy="4206240"/>
          </a:xfrm>
          <a:prstGeom prst="rect">
            <a:avLst/>
          </a:prstGeom>
        </p:spPr>
      </p:pic>
      <p:sp>
        <p:nvSpPr>
          <p:cNvPr id="5" name="Shape 2"/>
          <p:cNvSpPr/>
          <p:nvPr/>
        </p:nvSpPr>
        <p:spPr>
          <a:xfrm>
            <a:off x="8366760" y="1627632"/>
            <a:ext cx="3063240" cy="4462272"/>
          </a:xfrm>
          <a:prstGeom prst="roundRect">
            <a:avLst>
              <a:gd name="adj" fmla="val 2388"/>
            </a:avLst>
          </a:prstGeom>
          <a:solidFill>
            <a:srgbClr val="0F1B2E"/>
          </a:solidFill>
          <a:ln w="12700">
            <a:solidFill>
              <a:srgbClr val="334155"/>
            </a:solidFill>
            <a:prstDash val="solid"/>
          </a:ln>
        </p:spPr>
        <p:txBody>
          <a:bodyPr/>
          <a:lstStyle/>
          <a:p>
            <a:endParaRPr lang="en-US"/>
          </a:p>
        </p:txBody>
      </p:sp>
      <p:sp>
        <p:nvSpPr>
          <p:cNvPr id="6" name="Text 3"/>
          <p:cNvSpPr/>
          <p:nvPr/>
        </p:nvSpPr>
        <p:spPr>
          <a:xfrm>
            <a:off x="8595360" y="1810512"/>
            <a:ext cx="2606040" cy="256032"/>
          </a:xfrm>
          <a:prstGeom prst="rect">
            <a:avLst/>
          </a:prstGeom>
          <a:noFill/>
          <a:ln/>
        </p:spPr>
        <p:txBody>
          <a:bodyPr wrap="square" lIns="0" tIns="0" rIns="0" bIns="0" rtlCol="0" anchor="ctr"/>
          <a:lstStyle/>
          <a:p>
            <a:pPr marL="0" indent="0">
              <a:buNone/>
            </a:pPr>
            <a:r>
              <a:rPr lang="en-US" sz="1100" b="1" kern="0" spc="150" dirty="0">
                <a:solidFill>
                  <a:srgbClr val="2DD4BF"/>
                </a:solidFill>
                <a:latin typeface="Calibri" pitchFamily="34" charset="0"/>
                <a:ea typeface="Calibri" pitchFamily="34" charset="-122"/>
                <a:cs typeface="Calibri" pitchFamily="34" charset="-120"/>
              </a:rPr>
              <a:t>WHAT IT SHOWS</a:t>
            </a:r>
            <a:endParaRPr lang="en-US" sz="1100" dirty="0"/>
          </a:p>
        </p:txBody>
      </p:sp>
      <p:sp>
        <p:nvSpPr>
          <p:cNvPr id="7" name="Shape 4"/>
          <p:cNvSpPr/>
          <p:nvPr/>
        </p:nvSpPr>
        <p:spPr>
          <a:xfrm>
            <a:off x="8595360" y="2363724"/>
            <a:ext cx="118872" cy="118872"/>
          </a:xfrm>
          <a:prstGeom prst="ellipse">
            <a:avLst/>
          </a:prstGeom>
          <a:solidFill>
            <a:srgbClr val="2DD4BF"/>
          </a:solidFill>
          <a:ln w="12700">
            <a:solidFill>
              <a:srgbClr val="333333"/>
            </a:solidFill>
            <a:prstDash val="solid"/>
          </a:ln>
        </p:spPr>
        <p:txBody>
          <a:bodyPr/>
          <a:lstStyle/>
          <a:p>
            <a:endParaRPr lang="en-US"/>
          </a:p>
        </p:txBody>
      </p:sp>
      <p:sp>
        <p:nvSpPr>
          <p:cNvPr id="8" name="Text 5"/>
          <p:cNvSpPr/>
          <p:nvPr/>
        </p:nvSpPr>
        <p:spPr>
          <a:xfrm>
            <a:off x="8787384" y="2286000"/>
            <a:ext cx="242316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High — asks 0.80× revenue</a:t>
            </a:r>
            <a:endParaRPr lang="en-US" sz="1200" dirty="0"/>
          </a:p>
        </p:txBody>
      </p:sp>
      <p:sp>
        <p:nvSpPr>
          <p:cNvPr id="9" name="Text 6"/>
          <p:cNvSpPr/>
          <p:nvPr/>
        </p:nvSpPr>
        <p:spPr>
          <a:xfrm>
            <a:off x="8595360" y="267004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R3.24 bn against R4.05 bn earned. The only tier asking less than it makes.</a:t>
            </a:r>
            <a:endParaRPr lang="en-US" sz="1150" dirty="0"/>
          </a:p>
        </p:txBody>
      </p:sp>
      <p:sp>
        <p:nvSpPr>
          <p:cNvPr id="10" name="Shape 7"/>
          <p:cNvSpPr/>
          <p:nvPr/>
        </p:nvSpPr>
        <p:spPr>
          <a:xfrm>
            <a:off x="8595360" y="3594354"/>
            <a:ext cx="118872" cy="118872"/>
          </a:xfrm>
          <a:prstGeom prst="ellipse">
            <a:avLst/>
          </a:prstGeom>
          <a:solidFill>
            <a:srgbClr val="F59E0B"/>
          </a:solidFill>
          <a:ln w="12700">
            <a:solidFill>
              <a:srgbClr val="333333"/>
            </a:solidFill>
            <a:prstDash val="solid"/>
          </a:ln>
        </p:spPr>
        <p:txBody>
          <a:bodyPr/>
          <a:lstStyle/>
          <a:p>
            <a:endParaRPr lang="en-US"/>
          </a:p>
        </p:txBody>
      </p:sp>
      <p:sp>
        <p:nvSpPr>
          <p:cNvPr id="11" name="Text 8"/>
          <p:cNvSpPr/>
          <p:nvPr/>
        </p:nvSpPr>
        <p:spPr>
          <a:xfrm>
            <a:off x="8787384" y="3516630"/>
            <a:ext cx="2423160" cy="27432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Mid — asks 1.50× revenue</a:t>
            </a:r>
            <a:endParaRPr lang="en-US" sz="1200" dirty="0"/>
          </a:p>
        </p:txBody>
      </p:sp>
      <p:sp>
        <p:nvSpPr>
          <p:cNvPr id="12" name="Text 9"/>
          <p:cNvSpPr/>
          <p:nvPr/>
        </p:nvSpPr>
        <p:spPr>
          <a:xfrm>
            <a:off x="8595360" y="390067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R2.66 bn against R1.77 bn. A growth ask, structurable with light right-sizing.</a:t>
            </a:r>
            <a:endParaRPr lang="en-US" sz="1150" dirty="0"/>
          </a:p>
        </p:txBody>
      </p:sp>
      <p:sp>
        <p:nvSpPr>
          <p:cNvPr id="13" name="Shape 10"/>
          <p:cNvSpPr/>
          <p:nvPr/>
        </p:nvSpPr>
        <p:spPr>
          <a:xfrm>
            <a:off x="8595360" y="4824984"/>
            <a:ext cx="118872" cy="118872"/>
          </a:xfrm>
          <a:prstGeom prst="ellipse">
            <a:avLst/>
          </a:prstGeom>
          <a:solidFill>
            <a:srgbClr val="F87171"/>
          </a:solidFill>
          <a:ln w="12700">
            <a:solidFill>
              <a:srgbClr val="333333"/>
            </a:solidFill>
            <a:prstDash val="solid"/>
          </a:ln>
        </p:spPr>
        <p:txBody>
          <a:bodyPr/>
          <a:lstStyle/>
          <a:p>
            <a:endParaRPr lang="en-US"/>
          </a:p>
        </p:txBody>
      </p:sp>
      <p:sp>
        <p:nvSpPr>
          <p:cNvPr id="14" name="Text 11"/>
          <p:cNvSpPr/>
          <p:nvPr/>
        </p:nvSpPr>
        <p:spPr>
          <a:xfrm>
            <a:off x="8787384" y="4747260"/>
            <a:ext cx="2423160" cy="274320"/>
          </a:xfrm>
          <a:prstGeom prst="rect">
            <a:avLst/>
          </a:prstGeom>
          <a:noFill/>
          <a:ln/>
        </p:spPr>
        <p:txBody>
          <a:bodyPr wrap="square" lIns="0" tIns="0" rIns="0" bIns="0" rtlCol="0" anchor="ctr"/>
          <a:lstStyle/>
          <a:p>
            <a:pPr marL="0" indent="0">
              <a:buNone/>
            </a:pPr>
            <a:r>
              <a:rPr lang="en-US" sz="1200" b="1" dirty="0">
                <a:solidFill>
                  <a:srgbClr val="F87171"/>
                </a:solidFill>
                <a:latin typeface="Calibri" pitchFamily="34" charset="0"/>
                <a:ea typeface="Calibri" pitchFamily="34" charset="-122"/>
                <a:cs typeface="Calibri" pitchFamily="34" charset="-120"/>
              </a:rPr>
              <a:t>Low — asks 2.44× revenue</a:t>
            </a:r>
            <a:endParaRPr lang="en-US" sz="1200" dirty="0"/>
          </a:p>
        </p:txBody>
      </p:sp>
      <p:sp>
        <p:nvSpPr>
          <p:cNvPr id="15" name="Text 12"/>
          <p:cNvSpPr/>
          <p:nvPr/>
        </p:nvSpPr>
        <p:spPr>
          <a:xfrm>
            <a:off x="8595360" y="513130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R4.40 bn against R1.80 bn — 42.7% of the total ask on 23.6% of the revenue.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411480"/>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The job-creation promise</a:t>
            </a:r>
            <a:endParaRPr lang="en-US" sz="3000" dirty="0"/>
          </a:p>
        </p:txBody>
      </p:sp>
      <p:sp>
        <p:nvSpPr>
          <p:cNvPr id="3" name="Text 1"/>
          <p:cNvSpPr/>
          <p:nvPr/>
        </p:nvSpPr>
        <p:spPr>
          <a:xfrm>
            <a:off x="822960" y="987552"/>
            <a:ext cx="10515600" cy="41148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New jobs anticipated — as stated by applicants — against people already employed, by tier.</a:t>
            </a:r>
            <a:endParaRPr lang="en-US" sz="1400" dirty="0"/>
          </a:p>
        </p:txBody>
      </p:sp>
      <p:pic>
        <p:nvPicPr>
          <p:cNvPr id="4" name="Image 0" descr="/sessions/hopeful-festive-mayer/mnt/outputs/charts/chart6.png"/>
          <p:cNvPicPr>
            <a:picLocks noChangeAspect="1"/>
          </p:cNvPicPr>
          <p:nvPr/>
        </p:nvPicPr>
        <p:blipFill>
          <a:blip r:embed="rId3"/>
          <a:stretch>
            <a:fillRect/>
          </a:stretch>
        </p:blipFill>
        <p:spPr>
          <a:xfrm>
            <a:off x="777240" y="1627632"/>
            <a:ext cx="7205472" cy="4206240"/>
          </a:xfrm>
          <a:prstGeom prst="rect">
            <a:avLst/>
          </a:prstGeom>
        </p:spPr>
      </p:pic>
      <p:sp>
        <p:nvSpPr>
          <p:cNvPr id="5" name="Shape 2"/>
          <p:cNvSpPr/>
          <p:nvPr/>
        </p:nvSpPr>
        <p:spPr>
          <a:xfrm>
            <a:off x="8366760" y="1627632"/>
            <a:ext cx="3063240" cy="4462272"/>
          </a:xfrm>
          <a:prstGeom prst="roundRect">
            <a:avLst>
              <a:gd name="adj" fmla="val 2388"/>
            </a:avLst>
          </a:prstGeom>
          <a:solidFill>
            <a:srgbClr val="0F1B2E"/>
          </a:solidFill>
          <a:ln w="12700">
            <a:solidFill>
              <a:srgbClr val="334155"/>
            </a:solidFill>
            <a:prstDash val="solid"/>
          </a:ln>
        </p:spPr>
        <p:txBody>
          <a:bodyPr/>
          <a:lstStyle/>
          <a:p>
            <a:endParaRPr lang="en-US"/>
          </a:p>
        </p:txBody>
      </p:sp>
      <p:sp>
        <p:nvSpPr>
          <p:cNvPr id="6" name="Text 3"/>
          <p:cNvSpPr/>
          <p:nvPr/>
        </p:nvSpPr>
        <p:spPr>
          <a:xfrm>
            <a:off x="8595360" y="1810512"/>
            <a:ext cx="2606040" cy="256032"/>
          </a:xfrm>
          <a:prstGeom prst="rect">
            <a:avLst/>
          </a:prstGeom>
          <a:noFill/>
          <a:ln/>
        </p:spPr>
        <p:txBody>
          <a:bodyPr wrap="square" lIns="0" tIns="0" rIns="0" bIns="0" rtlCol="0" anchor="ctr"/>
          <a:lstStyle/>
          <a:p>
            <a:pPr marL="0" indent="0">
              <a:buNone/>
            </a:pPr>
            <a:r>
              <a:rPr lang="en-US" sz="1100" b="1" kern="0" spc="150" dirty="0">
                <a:solidFill>
                  <a:srgbClr val="2DD4BF"/>
                </a:solidFill>
                <a:latin typeface="Calibri" pitchFamily="34" charset="0"/>
                <a:ea typeface="Calibri" pitchFamily="34" charset="-122"/>
                <a:cs typeface="Calibri" pitchFamily="34" charset="-120"/>
              </a:rPr>
              <a:t>THE GROWTH CASE</a:t>
            </a:r>
            <a:endParaRPr lang="en-US" sz="1100" dirty="0"/>
          </a:p>
        </p:txBody>
      </p:sp>
      <p:sp>
        <p:nvSpPr>
          <p:cNvPr id="7" name="Shape 4"/>
          <p:cNvSpPr/>
          <p:nvPr/>
        </p:nvSpPr>
        <p:spPr>
          <a:xfrm>
            <a:off x="8595360" y="2363724"/>
            <a:ext cx="118872" cy="118872"/>
          </a:xfrm>
          <a:prstGeom prst="ellipse">
            <a:avLst/>
          </a:prstGeom>
          <a:solidFill>
            <a:srgbClr val="2DD4BF"/>
          </a:solidFill>
          <a:ln w="12700">
            <a:solidFill>
              <a:srgbClr val="333333"/>
            </a:solidFill>
            <a:prstDash val="solid"/>
          </a:ln>
        </p:spPr>
        <p:txBody>
          <a:bodyPr/>
          <a:lstStyle/>
          <a:p>
            <a:endParaRPr lang="en-US"/>
          </a:p>
        </p:txBody>
      </p:sp>
      <p:sp>
        <p:nvSpPr>
          <p:cNvPr id="8" name="Text 5"/>
          <p:cNvSpPr/>
          <p:nvPr/>
        </p:nvSpPr>
        <p:spPr>
          <a:xfrm>
            <a:off x="8787384" y="2286000"/>
            <a:ext cx="242316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26,506 promised</a:t>
            </a:r>
            <a:endParaRPr lang="en-US" sz="1200" dirty="0"/>
          </a:p>
        </p:txBody>
      </p:sp>
      <p:sp>
        <p:nvSpPr>
          <p:cNvPr id="9" name="Text 6"/>
          <p:cNvSpPr/>
          <p:nvPr/>
        </p:nvSpPr>
        <p:spPr>
          <a:xfrm>
            <a:off x="8595360" y="267004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Against 9,049 already employed — a promise to roughly triple applicant employment.</a:t>
            </a:r>
            <a:endParaRPr lang="en-US" sz="1150" dirty="0"/>
          </a:p>
        </p:txBody>
      </p:sp>
      <p:sp>
        <p:nvSpPr>
          <p:cNvPr id="10" name="Shape 7"/>
          <p:cNvSpPr/>
          <p:nvPr/>
        </p:nvSpPr>
        <p:spPr>
          <a:xfrm>
            <a:off x="8595360" y="3594354"/>
            <a:ext cx="118872" cy="118872"/>
          </a:xfrm>
          <a:prstGeom prst="ellipse">
            <a:avLst/>
          </a:prstGeom>
          <a:solidFill>
            <a:srgbClr val="2DD4BF"/>
          </a:solidFill>
          <a:ln w="12700">
            <a:solidFill>
              <a:srgbClr val="333333"/>
            </a:solidFill>
            <a:prstDash val="solid"/>
          </a:ln>
        </p:spPr>
        <p:txBody>
          <a:bodyPr/>
          <a:lstStyle/>
          <a:p>
            <a:endParaRPr lang="en-US"/>
          </a:p>
        </p:txBody>
      </p:sp>
      <p:sp>
        <p:nvSpPr>
          <p:cNvPr id="11" name="Text 8"/>
          <p:cNvSpPr/>
          <p:nvPr/>
        </p:nvSpPr>
        <p:spPr>
          <a:xfrm>
            <a:off x="8787384" y="3516630"/>
            <a:ext cx="242316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High is most credible</a:t>
            </a:r>
            <a:endParaRPr lang="en-US" sz="1200" dirty="0"/>
          </a:p>
        </p:txBody>
      </p:sp>
      <p:sp>
        <p:nvSpPr>
          <p:cNvPr id="12" name="Text 9"/>
          <p:cNvSpPr/>
          <p:nvPr/>
        </p:nvSpPr>
        <p:spPr>
          <a:xfrm>
            <a:off x="8595360" y="3900678"/>
            <a:ext cx="2606040" cy="39370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Promises 2.0× its headcount. Mid promises 4.4×, Low 4.8×.</a:t>
            </a:r>
            <a:endParaRPr lang="en-US" sz="1150" dirty="0"/>
          </a:p>
        </p:txBody>
      </p:sp>
      <p:sp>
        <p:nvSpPr>
          <p:cNvPr id="13" name="Shape 10"/>
          <p:cNvSpPr/>
          <p:nvPr/>
        </p:nvSpPr>
        <p:spPr>
          <a:xfrm>
            <a:off x="8595360" y="4628134"/>
            <a:ext cx="118872" cy="118872"/>
          </a:xfrm>
          <a:prstGeom prst="ellipse">
            <a:avLst/>
          </a:prstGeom>
          <a:solidFill>
            <a:srgbClr val="F59E0B"/>
          </a:solidFill>
          <a:ln w="12700">
            <a:solidFill>
              <a:srgbClr val="333333"/>
            </a:solidFill>
            <a:prstDash val="solid"/>
          </a:ln>
        </p:spPr>
        <p:txBody>
          <a:bodyPr/>
          <a:lstStyle/>
          <a:p>
            <a:endParaRPr lang="en-US"/>
          </a:p>
        </p:txBody>
      </p:sp>
      <p:sp>
        <p:nvSpPr>
          <p:cNvPr id="14" name="Text 11"/>
          <p:cNvSpPr/>
          <p:nvPr/>
        </p:nvSpPr>
        <p:spPr>
          <a:xfrm>
            <a:off x="8787384" y="4550410"/>
            <a:ext cx="2423160" cy="27432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Mid is the biggest</a:t>
            </a:r>
            <a:endParaRPr lang="en-US" sz="1200" dirty="0"/>
          </a:p>
        </p:txBody>
      </p:sp>
      <p:sp>
        <p:nvSpPr>
          <p:cNvPr id="15" name="Text 12"/>
          <p:cNvSpPr/>
          <p:nvPr/>
        </p:nvSpPr>
        <p:spPr>
          <a:xfrm>
            <a:off x="8595360" y="493445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11,751 jobs at R226k of ask per job — against R283k for High and R1.33m for Low.</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411480"/>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Transformation is strong across every tier</a:t>
            </a:r>
            <a:endParaRPr lang="en-US" sz="3000" dirty="0"/>
          </a:p>
        </p:txBody>
      </p:sp>
      <p:sp>
        <p:nvSpPr>
          <p:cNvPr id="3" name="Text 1"/>
          <p:cNvSpPr/>
          <p:nvPr/>
        </p:nvSpPr>
        <p:spPr>
          <a:xfrm>
            <a:off x="822960" y="987552"/>
            <a:ext cx="10515600" cy="41148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Average B-BBEE transformation score by tier, out of a possible 20.</a:t>
            </a:r>
            <a:endParaRPr lang="en-US" sz="1400" dirty="0"/>
          </a:p>
        </p:txBody>
      </p:sp>
      <p:pic>
        <p:nvPicPr>
          <p:cNvPr id="4" name="Image 0" descr="/sessions/hopeful-festive-mayer/mnt/outputs/charts/chart3.png"/>
          <p:cNvPicPr>
            <a:picLocks noChangeAspect="1"/>
          </p:cNvPicPr>
          <p:nvPr/>
        </p:nvPicPr>
        <p:blipFill>
          <a:blip r:embed="rId3"/>
          <a:stretch>
            <a:fillRect/>
          </a:stretch>
        </p:blipFill>
        <p:spPr>
          <a:xfrm>
            <a:off x="1051560" y="1691640"/>
            <a:ext cx="6464808" cy="4023360"/>
          </a:xfrm>
          <a:prstGeom prst="rect">
            <a:avLst/>
          </a:prstGeom>
        </p:spPr>
      </p:pic>
      <p:sp>
        <p:nvSpPr>
          <p:cNvPr id="5" name="Shape 2"/>
          <p:cNvSpPr/>
          <p:nvPr/>
        </p:nvSpPr>
        <p:spPr>
          <a:xfrm>
            <a:off x="8366760" y="1627632"/>
            <a:ext cx="3063240" cy="4462272"/>
          </a:xfrm>
          <a:prstGeom prst="roundRect">
            <a:avLst>
              <a:gd name="adj" fmla="val 2388"/>
            </a:avLst>
          </a:prstGeom>
          <a:solidFill>
            <a:srgbClr val="0F1B2E"/>
          </a:solidFill>
          <a:ln w="12700">
            <a:solidFill>
              <a:srgbClr val="334155"/>
            </a:solidFill>
            <a:prstDash val="solid"/>
          </a:ln>
        </p:spPr>
        <p:txBody>
          <a:bodyPr/>
          <a:lstStyle/>
          <a:p>
            <a:endParaRPr lang="en-US"/>
          </a:p>
        </p:txBody>
      </p:sp>
      <p:sp>
        <p:nvSpPr>
          <p:cNvPr id="6" name="Text 3"/>
          <p:cNvSpPr/>
          <p:nvPr/>
        </p:nvSpPr>
        <p:spPr>
          <a:xfrm>
            <a:off x="8595360" y="1810512"/>
            <a:ext cx="2606040" cy="256032"/>
          </a:xfrm>
          <a:prstGeom prst="rect">
            <a:avLst/>
          </a:prstGeom>
          <a:noFill/>
          <a:ln/>
        </p:spPr>
        <p:txBody>
          <a:bodyPr wrap="square" lIns="0" tIns="0" rIns="0" bIns="0" rtlCol="0" anchor="ctr"/>
          <a:lstStyle/>
          <a:p>
            <a:pPr marL="0" indent="0">
              <a:buNone/>
            </a:pPr>
            <a:r>
              <a:rPr lang="en-US" sz="1100" b="1" kern="0" spc="150" dirty="0">
                <a:solidFill>
                  <a:srgbClr val="2DD4BF"/>
                </a:solidFill>
                <a:latin typeface="Calibri" pitchFamily="34" charset="0"/>
                <a:ea typeface="Calibri" pitchFamily="34" charset="-122"/>
                <a:cs typeface="Calibri" pitchFamily="34" charset="-120"/>
              </a:rPr>
              <a:t>WHY IT MATTERS</a:t>
            </a:r>
            <a:endParaRPr lang="en-US" sz="1100" dirty="0"/>
          </a:p>
        </p:txBody>
      </p:sp>
      <p:sp>
        <p:nvSpPr>
          <p:cNvPr id="7" name="Shape 4"/>
          <p:cNvSpPr/>
          <p:nvPr/>
        </p:nvSpPr>
        <p:spPr>
          <a:xfrm>
            <a:off x="8595360" y="2363724"/>
            <a:ext cx="118872" cy="118872"/>
          </a:xfrm>
          <a:prstGeom prst="ellipse">
            <a:avLst/>
          </a:prstGeom>
          <a:solidFill>
            <a:srgbClr val="2DD4BF"/>
          </a:solidFill>
          <a:ln w="12700">
            <a:solidFill>
              <a:srgbClr val="333333"/>
            </a:solidFill>
            <a:prstDash val="solid"/>
          </a:ln>
        </p:spPr>
        <p:txBody>
          <a:bodyPr/>
          <a:lstStyle/>
          <a:p>
            <a:endParaRPr lang="en-US"/>
          </a:p>
        </p:txBody>
      </p:sp>
      <p:sp>
        <p:nvSpPr>
          <p:cNvPr id="8" name="Text 5"/>
          <p:cNvSpPr/>
          <p:nvPr/>
        </p:nvSpPr>
        <p:spPr>
          <a:xfrm>
            <a:off x="8787384" y="2286000"/>
            <a:ext cx="242316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A two-point spread</a:t>
            </a:r>
            <a:endParaRPr lang="en-US" sz="1200" dirty="0"/>
          </a:p>
        </p:txBody>
      </p:sp>
      <p:sp>
        <p:nvSpPr>
          <p:cNvPr id="9" name="Text 6"/>
          <p:cNvSpPr/>
          <p:nvPr/>
        </p:nvSpPr>
        <p:spPr>
          <a:xfrm>
            <a:off x="8595360" y="267004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15, 14 and 13 out of 20. Transformation qualifies the pool; it does not separate it.</a:t>
            </a:r>
            <a:endParaRPr lang="en-US" sz="1150" dirty="0"/>
          </a:p>
        </p:txBody>
      </p:sp>
      <p:sp>
        <p:nvSpPr>
          <p:cNvPr id="10" name="Shape 7"/>
          <p:cNvSpPr/>
          <p:nvPr/>
        </p:nvSpPr>
        <p:spPr>
          <a:xfrm>
            <a:off x="8595360" y="3594354"/>
            <a:ext cx="118872" cy="118872"/>
          </a:xfrm>
          <a:prstGeom prst="ellipse">
            <a:avLst/>
          </a:prstGeom>
          <a:solidFill>
            <a:srgbClr val="F59E0B"/>
          </a:solidFill>
          <a:ln w="12700">
            <a:solidFill>
              <a:srgbClr val="333333"/>
            </a:solidFill>
            <a:prstDash val="solid"/>
          </a:ln>
        </p:spPr>
        <p:txBody>
          <a:bodyPr/>
          <a:lstStyle/>
          <a:p>
            <a:endParaRPr lang="en-US"/>
          </a:p>
        </p:txBody>
      </p:sp>
      <p:sp>
        <p:nvSpPr>
          <p:cNvPr id="11" name="Text 8"/>
          <p:cNvSpPr/>
          <p:nvPr/>
        </p:nvSpPr>
        <p:spPr>
          <a:xfrm>
            <a:off x="8787384" y="3516630"/>
            <a:ext cx="2423160" cy="27432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It is a mandate unlock</a:t>
            </a:r>
            <a:endParaRPr lang="en-US" sz="1200" dirty="0"/>
          </a:p>
        </p:txBody>
      </p:sp>
      <p:sp>
        <p:nvSpPr>
          <p:cNvPr id="12" name="Text 9"/>
          <p:cNvSpPr/>
          <p:nvPr/>
        </p:nvSpPr>
        <p:spPr>
          <a:xfrm>
            <a:off x="8595360" y="390067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Every tier clears the bar most development financiers are required to apply.</a:t>
            </a:r>
            <a:endParaRPr lang="en-US" sz="1150" dirty="0"/>
          </a:p>
        </p:txBody>
      </p:sp>
      <p:sp>
        <p:nvSpPr>
          <p:cNvPr id="13" name="Shape 10"/>
          <p:cNvSpPr/>
          <p:nvPr/>
        </p:nvSpPr>
        <p:spPr>
          <a:xfrm>
            <a:off x="8595360" y="4824984"/>
            <a:ext cx="118872" cy="118872"/>
          </a:xfrm>
          <a:prstGeom prst="ellipse">
            <a:avLst/>
          </a:prstGeom>
          <a:solidFill>
            <a:srgbClr val="F87171"/>
          </a:solidFill>
          <a:ln w="12700">
            <a:solidFill>
              <a:srgbClr val="333333"/>
            </a:solidFill>
            <a:prstDash val="solid"/>
          </a:ln>
        </p:spPr>
        <p:txBody>
          <a:bodyPr/>
          <a:lstStyle/>
          <a:p>
            <a:endParaRPr lang="en-US"/>
          </a:p>
        </p:txBody>
      </p:sp>
      <p:sp>
        <p:nvSpPr>
          <p:cNvPr id="14" name="Text 11"/>
          <p:cNvSpPr/>
          <p:nvPr/>
        </p:nvSpPr>
        <p:spPr>
          <a:xfrm>
            <a:off x="8787384" y="4747260"/>
            <a:ext cx="2423160" cy="274320"/>
          </a:xfrm>
          <a:prstGeom prst="rect">
            <a:avLst/>
          </a:prstGeom>
          <a:noFill/>
          <a:ln/>
        </p:spPr>
        <p:txBody>
          <a:bodyPr wrap="square" lIns="0" tIns="0" rIns="0" bIns="0" rtlCol="0" anchor="ctr"/>
          <a:lstStyle/>
          <a:p>
            <a:pPr marL="0" indent="0">
              <a:buNone/>
            </a:pPr>
            <a:r>
              <a:rPr lang="en-US" sz="1200" b="1" dirty="0">
                <a:solidFill>
                  <a:srgbClr val="F87171"/>
                </a:solidFill>
                <a:latin typeface="Calibri" pitchFamily="34" charset="0"/>
                <a:ea typeface="Calibri" pitchFamily="34" charset="-122"/>
                <a:cs typeface="Calibri" pitchFamily="34" charset="-120"/>
              </a:rPr>
              <a:t>So it cannot be the filter</a:t>
            </a:r>
            <a:endParaRPr lang="en-US" sz="1200" dirty="0"/>
          </a:p>
        </p:txBody>
      </p:sp>
      <p:sp>
        <p:nvSpPr>
          <p:cNvPr id="15" name="Text 12"/>
          <p:cNvSpPr/>
          <p:nvPr/>
        </p:nvSpPr>
        <p:spPr>
          <a:xfrm>
            <a:off x="8595360" y="5131308"/>
            <a:ext cx="2606040" cy="39370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Tiering has to rest on revenue, scale and ask viability instead.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411480"/>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Ownership profile in detail</a:t>
            </a:r>
            <a:endParaRPr lang="en-US" sz="3000" dirty="0"/>
          </a:p>
        </p:txBody>
      </p:sp>
      <p:sp>
        <p:nvSpPr>
          <p:cNvPr id="3" name="Text 1"/>
          <p:cNvSpPr/>
          <p:nvPr/>
        </p:nvSpPr>
        <p:spPr>
          <a:xfrm>
            <a:off x="822960" y="987552"/>
            <a:ext cx="10515600" cy="41148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Average ownership percentages by tier, across the four transformation dimensions.</a:t>
            </a:r>
            <a:endParaRPr lang="en-US" sz="1400" dirty="0"/>
          </a:p>
        </p:txBody>
      </p:sp>
      <p:sp>
        <p:nvSpPr>
          <p:cNvPr id="4" name="Shape 2"/>
          <p:cNvSpPr/>
          <p:nvPr/>
        </p:nvSpPr>
        <p:spPr>
          <a:xfrm>
            <a:off x="822960" y="1600200"/>
            <a:ext cx="10515600" cy="2240280"/>
          </a:xfrm>
          <a:prstGeom prst="roundRect">
            <a:avLst>
              <a:gd name="adj" fmla="val 3265"/>
            </a:avLst>
          </a:prstGeom>
          <a:solidFill>
            <a:srgbClr val="0F1B2E"/>
          </a:solidFill>
          <a:ln w="12700">
            <a:solidFill>
              <a:srgbClr val="334155"/>
            </a:solidFill>
            <a:prstDash val="solid"/>
          </a:ln>
        </p:spPr>
        <p:txBody>
          <a:bodyPr/>
          <a:lstStyle/>
          <a:p>
            <a:endParaRPr lang="en-US"/>
          </a:p>
        </p:txBody>
      </p:sp>
      <p:pic>
        <p:nvPicPr>
          <p:cNvPr id="5" name="Image 0" descr="/sessions/hopeful-festive-mayer/mnt/outputs/charts/chart4.png"/>
          <p:cNvPicPr>
            <a:picLocks noChangeAspect="1"/>
          </p:cNvPicPr>
          <p:nvPr/>
        </p:nvPicPr>
        <p:blipFill>
          <a:blip r:embed="rId3"/>
          <a:stretch>
            <a:fillRect/>
          </a:stretch>
        </p:blipFill>
        <p:spPr>
          <a:xfrm>
            <a:off x="1051560" y="2057400"/>
            <a:ext cx="10058400" cy="1600200"/>
          </a:xfrm>
          <a:prstGeom prst="rect">
            <a:avLst/>
          </a:prstGeom>
        </p:spPr>
      </p:pic>
      <p:sp>
        <p:nvSpPr>
          <p:cNvPr id="6" name="Shape 3"/>
          <p:cNvSpPr/>
          <p:nvPr/>
        </p:nvSpPr>
        <p:spPr>
          <a:xfrm>
            <a:off x="822960" y="4069080"/>
            <a:ext cx="2468880" cy="1920240"/>
          </a:xfrm>
          <a:prstGeom prst="roundRect">
            <a:avLst>
              <a:gd name="adj" fmla="val 3810"/>
            </a:avLst>
          </a:prstGeom>
          <a:solidFill>
            <a:srgbClr val="0F1B2E"/>
          </a:solidFill>
          <a:ln w="12700">
            <a:solidFill>
              <a:srgbClr val="334155"/>
            </a:solidFill>
            <a:prstDash val="solid"/>
          </a:ln>
        </p:spPr>
        <p:txBody>
          <a:bodyPr/>
          <a:lstStyle/>
          <a:p>
            <a:endParaRPr lang="en-US"/>
          </a:p>
        </p:txBody>
      </p:sp>
      <p:sp>
        <p:nvSpPr>
          <p:cNvPr id="7" name="Text 4"/>
          <p:cNvSpPr/>
          <p:nvPr/>
        </p:nvSpPr>
        <p:spPr>
          <a:xfrm>
            <a:off x="1051560" y="4251960"/>
            <a:ext cx="2011680" cy="457200"/>
          </a:xfrm>
          <a:prstGeom prst="rect">
            <a:avLst/>
          </a:prstGeom>
          <a:noFill/>
          <a:ln/>
        </p:spPr>
        <p:txBody>
          <a:bodyPr wrap="square" lIns="0" tIns="0" rIns="0" bIns="0" rtlCol="0" anchor="ctr"/>
          <a:lstStyle/>
          <a:p>
            <a:pPr marL="0" indent="0">
              <a:buNone/>
            </a:pPr>
            <a:r>
              <a:rPr lang="en-US" sz="2600" b="1" dirty="0">
                <a:solidFill>
                  <a:srgbClr val="2DD4BF"/>
                </a:solidFill>
                <a:latin typeface="Cambria" pitchFamily="34" charset="0"/>
                <a:ea typeface="Cambria" pitchFamily="34" charset="-122"/>
                <a:cs typeface="Cambria" pitchFamily="34" charset="-120"/>
              </a:rPr>
              <a:t>91.6%</a:t>
            </a:r>
            <a:endParaRPr lang="en-US" sz="2600" dirty="0"/>
          </a:p>
        </p:txBody>
      </p:sp>
      <p:sp>
        <p:nvSpPr>
          <p:cNvPr id="8" name="Text 5"/>
          <p:cNvSpPr/>
          <p:nvPr/>
        </p:nvSpPr>
        <p:spPr>
          <a:xfrm>
            <a:off x="1051560" y="4718304"/>
            <a:ext cx="21031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Black ownership</a:t>
            </a:r>
            <a:endParaRPr lang="en-US" sz="1200" dirty="0"/>
          </a:p>
        </p:txBody>
      </p:sp>
      <p:sp>
        <p:nvSpPr>
          <p:cNvPr id="9" name="Text 6"/>
          <p:cNvSpPr/>
          <p:nvPr/>
        </p:nvSpPr>
        <p:spPr>
          <a:xfrm>
            <a:off x="1051560" y="5029200"/>
            <a:ext cx="2057400" cy="868680"/>
          </a:xfrm>
          <a:prstGeom prst="rect">
            <a:avLst/>
          </a:prstGeom>
          <a:noFill/>
          <a:ln/>
        </p:spPr>
        <p:txBody>
          <a:bodyPr wrap="square" lIns="0" tIns="0" rIns="0" bIns="0" rtlCol="0" anchor="ctr"/>
          <a:lstStyle/>
          <a:p>
            <a:pPr marL="0" indent="0">
              <a:lnSpc>
                <a:spcPts val="1400"/>
              </a:lnSpc>
              <a:buNone/>
            </a:pPr>
            <a:r>
              <a:rPr lang="en-US" sz="1100" dirty="0">
                <a:solidFill>
                  <a:srgbClr val="CBD5E1"/>
                </a:solidFill>
                <a:latin typeface="Calibri" pitchFamily="34" charset="0"/>
                <a:ea typeface="Calibri" pitchFamily="34" charset="-122"/>
                <a:cs typeface="Calibri" pitchFamily="34" charset="-120"/>
              </a:rPr>
              <a:t>Exceptional and consistent — 95.4% in the High tier and still 86.8% in the Low.</a:t>
            </a:r>
            <a:endParaRPr lang="en-US" sz="1100" dirty="0"/>
          </a:p>
        </p:txBody>
      </p:sp>
      <p:sp>
        <p:nvSpPr>
          <p:cNvPr id="10" name="Shape 7"/>
          <p:cNvSpPr/>
          <p:nvPr/>
        </p:nvSpPr>
        <p:spPr>
          <a:xfrm>
            <a:off x="3520440" y="4069080"/>
            <a:ext cx="2468880" cy="1920240"/>
          </a:xfrm>
          <a:prstGeom prst="roundRect">
            <a:avLst>
              <a:gd name="adj" fmla="val 3810"/>
            </a:avLst>
          </a:prstGeom>
          <a:solidFill>
            <a:srgbClr val="0F1B2E"/>
          </a:solidFill>
          <a:ln w="12700">
            <a:solidFill>
              <a:srgbClr val="334155"/>
            </a:solidFill>
            <a:prstDash val="solid"/>
          </a:ln>
        </p:spPr>
        <p:txBody>
          <a:bodyPr/>
          <a:lstStyle/>
          <a:p>
            <a:endParaRPr lang="en-US"/>
          </a:p>
        </p:txBody>
      </p:sp>
      <p:sp>
        <p:nvSpPr>
          <p:cNvPr id="11" name="Text 8"/>
          <p:cNvSpPr/>
          <p:nvPr/>
        </p:nvSpPr>
        <p:spPr>
          <a:xfrm>
            <a:off x="3749040" y="4251960"/>
            <a:ext cx="2011680" cy="457200"/>
          </a:xfrm>
          <a:prstGeom prst="rect">
            <a:avLst/>
          </a:prstGeom>
          <a:noFill/>
          <a:ln/>
        </p:spPr>
        <p:txBody>
          <a:bodyPr wrap="square" lIns="0" tIns="0" rIns="0" bIns="0" rtlCol="0" anchor="ctr"/>
          <a:lstStyle/>
          <a:p>
            <a:pPr marL="0" indent="0">
              <a:buNone/>
            </a:pPr>
            <a:r>
              <a:rPr lang="en-US" sz="2600" b="1" dirty="0">
                <a:solidFill>
                  <a:srgbClr val="2DD4BF"/>
                </a:solidFill>
                <a:latin typeface="Cambria" pitchFamily="34" charset="0"/>
                <a:ea typeface="Cambria" pitchFamily="34" charset="-122"/>
                <a:cs typeface="Cambria" pitchFamily="34" charset="-120"/>
              </a:rPr>
              <a:t>46.7%</a:t>
            </a:r>
            <a:endParaRPr lang="en-US" sz="2600" dirty="0"/>
          </a:p>
        </p:txBody>
      </p:sp>
      <p:sp>
        <p:nvSpPr>
          <p:cNvPr id="12" name="Text 9"/>
          <p:cNvSpPr/>
          <p:nvPr/>
        </p:nvSpPr>
        <p:spPr>
          <a:xfrm>
            <a:off x="3749040" y="4718304"/>
            <a:ext cx="21031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Women ownership</a:t>
            </a:r>
            <a:endParaRPr lang="en-US" sz="1200" dirty="0"/>
          </a:p>
        </p:txBody>
      </p:sp>
      <p:sp>
        <p:nvSpPr>
          <p:cNvPr id="13" name="Text 10"/>
          <p:cNvSpPr/>
          <p:nvPr/>
        </p:nvSpPr>
        <p:spPr>
          <a:xfrm>
            <a:off x="3749040" y="5029200"/>
            <a:ext cx="2057400" cy="868680"/>
          </a:xfrm>
          <a:prstGeom prst="rect">
            <a:avLst/>
          </a:prstGeom>
          <a:noFill/>
          <a:ln/>
        </p:spPr>
        <p:txBody>
          <a:bodyPr wrap="square" lIns="0" tIns="0" rIns="0" bIns="0" rtlCol="0" anchor="ctr"/>
          <a:lstStyle/>
          <a:p>
            <a:pPr marL="0" indent="0">
              <a:lnSpc>
                <a:spcPts val="1400"/>
              </a:lnSpc>
              <a:buNone/>
            </a:pPr>
            <a:r>
              <a:rPr lang="en-US" sz="1100" dirty="0">
                <a:solidFill>
                  <a:srgbClr val="CBD5E1"/>
                </a:solidFill>
                <a:latin typeface="Calibri" pitchFamily="34" charset="0"/>
                <a:ea typeface="Calibri" pitchFamily="34" charset="-122"/>
                <a:cs typeface="Calibri" pitchFamily="34" charset="-120"/>
              </a:rPr>
              <a:t>Close to parity across every tier — second only to Black ownership in the pool.</a:t>
            </a:r>
            <a:endParaRPr lang="en-US" sz="1100" dirty="0"/>
          </a:p>
        </p:txBody>
      </p:sp>
      <p:sp>
        <p:nvSpPr>
          <p:cNvPr id="14" name="Shape 11"/>
          <p:cNvSpPr/>
          <p:nvPr/>
        </p:nvSpPr>
        <p:spPr>
          <a:xfrm>
            <a:off x="6217920" y="4069080"/>
            <a:ext cx="2468880" cy="1920240"/>
          </a:xfrm>
          <a:prstGeom prst="roundRect">
            <a:avLst>
              <a:gd name="adj" fmla="val 3810"/>
            </a:avLst>
          </a:prstGeom>
          <a:solidFill>
            <a:srgbClr val="0F1B2E"/>
          </a:solidFill>
          <a:ln w="12700">
            <a:solidFill>
              <a:srgbClr val="334155"/>
            </a:solidFill>
            <a:prstDash val="solid"/>
          </a:ln>
        </p:spPr>
        <p:txBody>
          <a:bodyPr/>
          <a:lstStyle/>
          <a:p>
            <a:endParaRPr lang="en-US"/>
          </a:p>
        </p:txBody>
      </p:sp>
      <p:sp>
        <p:nvSpPr>
          <p:cNvPr id="15" name="Text 12"/>
          <p:cNvSpPr/>
          <p:nvPr/>
        </p:nvSpPr>
        <p:spPr>
          <a:xfrm>
            <a:off x="6446520" y="4251960"/>
            <a:ext cx="2011680" cy="457200"/>
          </a:xfrm>
          <a:prstGeom prst="rect">
            <a:avLst/>
          </a:prstGeom>
          <a:noFill/>
          <a:ln/>
        </p:spPr>
        <p:txBody>
          <a:bodyPr wrap="square" lIns="0" tIns="0" rIns="0" bIns="0" rtlCol="0" anchor="ctr"/>
          <a:lstStyle/>
          <a:p>
            <a:pPr marL="0" indent="0">
              <a:buNone/>
            </a:pPr>
            <a:r>
              <a:rPr lang="en-US" sz="2600" b="1" dirty="0">
                <a:solidFill>
                  <a:srgbClr val="F59E0B"/>
                </a:solidFill>
                <a:latin typeface="Cambria" pitchFamily="34" charset="0"/>
                <a:ea typeface="Cambria" pitchFamily="34" charset="-122"/>
                <a:cs typeface="Cambria" pitchFamily="34" charset="-120"/>
              </a:rPr>
              <a:t>44.8%</a:t>
            </a:r>
            <a:endParaRPr lang="en-US" sz="2600" dirty="0"/>
          </a:p>
        </p:txBody>
      </p:sp>
      <p:sp>
        <p:nvSpPr>
          <p:cNvPr id="16" name="Text 13"/>
          <p:cNvSpPr/>
          <p:nvPr/>
        </p:nvSpPr>
        <p:spPr>
          <a:xfrm>
            <a:off x="6446520" y="4718304"/>
            <a:ext cx="21031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Youth ownership</a:t>
            </a:r>
            <a:endParaRPr lang="en-US" sz="1200" dirty="0"/>
          </a:p>
        </p:txBody>
      </p:sp>
      <p:sp>
        <p:nvSpPr>
          <p:cNvPr id="17" name="Text 14"/>
          <p:cNvSpPr/>
          <p:nvPr/>
        </p:nvSpPr>
        <p:spPr>
          <a:xfrm>
            <a:off x="6446520" y="5029200"/>
            <a:ext cx="2057400" cy="868680"/>
          </a:xfrm>
          <a:prstGeom prst="rect">
            <a:avLst/>
          </a:prstGeom>
          <a:noFill/>
          <a:ln/>
        </p:spPr>
        <p:txBody>
          <a:bodyPr wrap="square" lIns="0" tIns="0" rIns="0" bIns="0" rtlCol="0" anchor="ctr"/>
          <a:lstStyle/>
          <a:p>
            <a:pPr marL="0" indent="0">
              <a:lnSpc>
                <a:spcPts val="1400"/>
              </a:lnSpc>
              <a:buNone/>
            </a:pPr>
            <a:r>
              <a:rPr lang="en-US" sz="1100" dirty="0">
                <a:solidFill>
                  <a:srgbClr val="CBD5E1"/>
                </a:solidFill>
                <a:latin typeface="Calibri" pitchFamily="34" charset="0"/>
                <a:ea typeface="Calibri" pitchFamily="34" charset="-122"/>
                <a:cs typeface="Calibri" pitchFamily="34" charset="-120"/>
              </a:rPr>
              <a:t>Highest in the Low tier (46.4%) — the youngest businesses are the youngest-owned.</a:t>
            </a:r>
            <a:endParaRPr lang="en-US" sz="1100" dirty="0"/>
          </a:p>
        </p:txBody>
      </p:sp>
      <p:sp>
        <p:nvSpPr>
          <p:cNvPr id="18" name="Shape 15"/>
          <p:cNvSpPr/>
          <p:nvPr/>
        </p:nvSpPr>
        <p:spPr>
          <a:xfrm>
            <a:off x="8915400" y="4069080"/>
            <a:ext cx="2468880" cy="1920240"/>
          </a:xfrm>
          <a:prstGeom prst="roundRect">
            <a:avLst>
              <a:gd name="adj" fmla="val 3810"/>
            </a:avLst>
          </a:prstGeom>
          <a:solidFill>
            <a:srgbClr val="0F1B2E"/>
          </a:solidFill>
          <a:ln w="12700">
            <a:solidFill>
              <a:srgbClr val="334155"/>
            </a:solidFill>
            <a:prstDash val="solid"/>
          </a:ln>
        </p:spPr>
        <p:txBody>
          <a:bodyPr/>
          <a:lstStyle/>
          <a:p>
            <a:endParaRPr lang="en-US"/>
          </a:p>
        </p:txBody>
      </p:sp>
      <p:sp>
        <p:nvSpPr>
          <p:cNvPr id="19" name="Text 16"/>
          <p:cNvSpPr/>
          <p:nvPr/>
        </p:nvSpPr>
        <p:spPr>
          <a:xfrm>
            <a:off x="9144000" y="4251960"/>
            <a:ext cx="2011680" cy="457200"/>
          </a:xfrm>
          <a:prstGeom prst="rect">
            <a:avLst/>
          </a:prstGeom>
          <a:noFill/>
          <a:ln/>
        </p:spPr>
        <p:txBody>
          <a:bodyPr wrap="square" lIns="0" tIns="0" rIns="0" bIns="0" rtlCol="0" anchor="ctr"/>
          <a:lstStyle/>
          <a:p>
            <a:pPr marL="0" indent="0">
              <a:buNone/>
            </a:pPr>
            <a:r>
              <a:rPr lang="en-US" sz="2600" b="1" dirty="0">
                <a:solidFill>
                  <a:srgbClr val="F87171"/>
                </a:solidFill>
                <a:latin typeface="Cambria" pitchFamily="34" charset="0"/>
                <a:ea typeface="Cambria" pitchFamily="34" charset="-122"/>
                <a:cs typeface="Cambria" pitchFamily="34" charset="-120"/>
              </a:rPr>
              <a:t>4.8%</a:t>
            </a:r>
            <a:endParaRPr lang="en-US" sz="2600" dirty="0"/>
          </a:p>
        </p:txBody>
      </p:sp>
      <p:sp>
        <p:nvSpPr>
          <p:cNvPr id="20" name="Text 17"/>
          <p:cNvSpPr/>
          <p:nvPr/>
        </p:nvSpPr>
        <p:spPr>
          <a:xfrm>
            <a:off x="9144000" y="4718304"/>
            <a:ext cx="210312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Disability ownership</a:t>
            </a:r>
            <a:endParaRPr lang="en-US" sz="1200" dirty="0"/>
          </a:p>
        </p:txBody>
      </p:sp>
      <p:sp>
        <p:nvSpPr>
          <p:cNvPr id="21" name="Text 18"/>
          <p:cNvSpPr/>
          <p:nvPr/>
        </p:nvSpPr>
        <p:spPr>
          <a:xfrm>
            <a:off x="9144000" y="5029200"/>
            <a:ext cx="2057400" cy="868680"/>
          </a:xfrm>
          <a:prstGeom prst="rect">
            <a:avLst/>
          </a:prstGeom>
          <a:noFill/>
          <a:ln/>
        </p:spPr>
        <p:txBody>
          <a:bodyPr wrap="square" lIns="0" tIns="0" rIns="0" bIns="0" rtlCol="0" anchor="ctr"/>
          <a:lstStyle/>
          <a:p>
            <a:pPr marL="0" indent="0">
              <a:lnSpc>
                <a:spcPts val="1400"/>
              </a:lnSpc>
              <a:buNone/>
            </a:pPr>
            <a:r>
              <a:rPr lang="en-US" sz="1100" dirty="0">
                <a:solidFill>
                  <a:srgbClr val="CBD5E1"/>
                </a:solidFill>
                <a:latin typeface="Calibri" pitchFamily="34" charset="0"/>
                <a:ea typeface="Calibri" pitchFamily="34" charset="-122"/>
                <a:cs typeface="Calibri" pitchFamily="34" charset="-120"/>
              </a:rPr>
              <a:t>The one genuine gap. A targeted outreach opportunity for the next campaign round.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411480"/>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Volume swings; quality holds steady</a:t>
            </a:r>
            <a:endParaRPr lang="en-US" sz="3000" dirty="0"/>
          </a:p>
        </p:txBody>
      </p:sp>
      <p:sp>
        <p:nvSpPr>
          <p:cNvPr id="3" name="Text 1"/>
          <p:cNvSpPr/>
          <p:nvPr/>
        </p:nvSpPr>
        <p:spPr>
          <a:xfrm>
            <a:off x="822960" y="987552"/>
            <a:ext cx="10515600" cy="41148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Monthly applications across the campaign run, split by funding-readiness tier.</a:t>
            </a:r>
            <a:endParaRPr lang="en-US" sz="1400" dirty="0"/>
          </a:p>
        </p:txBody>
      </p:sp>
      <p:pic>
        <p:nvPicPr>
          <p:cNvPr id="4" name="Image 0" descr="/sessions/hopeful-festive-mayer/mnt/outputs/charts/chart7.png"/>
          <p:cNvPicPr>
            <a:picLocks noChangeAspect="1"/>
          </p:cNvPicPr>
          <p:nvPr/>
        </p:nvPicPr>
        <p:blipFill>
          <a:blip r:embed="rId3"/>
          <a:stretch>
            <a:fillRect/>
          </a:stretch>
        </p:blipFill>
        <p:spPr>
          <a:xfrm>
            <a:off x="685800" y="1920240"/>
            <a:ext cx="7406640" cy="2962656"/>
          </a:xfrm>
          <a:prstGeom prst="rect">
            <a:avLst/>
          </a:prstGeom>
        </p:spPr>
      </p:pic>
      <p:sp>
        <p:nvSpPr>
          <p:cNvPr id="5" name="Text 2"/>
          <p:cNvSpPr/>
          <p:nvPr/>
        </p:nvSpPr>
        <p:spPr>
          <a:xfrm>
            <a:off x="822960" y="5120640"/>
            <a:ext cx="7223760" cy="365760"/>
          </a:xfrm>
          <a:prstGeom prst="rect">
            <a:avLst/>
          </a:prstGeom>
          <a:noFill/>
          <a:ln/>
        </p:spPr>
        <p:txBody>
          <a:bodyPr wrap="square" lIns="0" tIns="0" rIns="0" bIns="0" rtlCol="0" anchor="ctr"/>
          <a:lstStyle/>
          <a:p>
            <a:pPr marL="0" indent="0">
              <a:buNone/>
            </a:pPr>
            <a:r>
              <a:rPr lang="en-US" sz="1250" i="1" dirty="0">
                <a:solidFill>
                  <a:srgbClr val="2DD4BF"/>
                </a:solidFill>
                <a:latin typeface="Calibri" pitchFamily="34" charset="0"/>
                <a:ea typeface="Calibri" pitchFamily="34" charset="-122"/>
                <a:cs typeface="Calibri" pitchFamily="34" charset="-120"/>
              </a:rPr>
              <a:t>Investor-ready businesses arrived in every month of the campaign, not only in its opening quarter.</a:t>
            </a:r>
            <a:endParaRPr lang="en-US" sz="1250" dirty="0"/>
          </a:p>
        </p:txBody>
      </p:sp>
      <p:sp>
        <p:nvSpPr>
          <p:cNvPr id="6" name="Text 3"/>
          <p:cNvSpPr/>
          <p:nvPr/>
        </p:nvSpPr>
        <p:spPr>
          <a:xfrm>
            <a:off x="822960" y="5486400"/>
            <a:ext cx="7223760" cy="640080"/>
          </a:xfrm>
          <a:prstGeom prst="rect">
            <a:avLst/>
          </a:prstGeom>
          <a:noFill/>
          <a:ln/>
        </p:spPr>
        <p:txBody>
          <a:bodyPr wrap="square" lIns="0" tIns="0" rIns="0" bIns="0" rtlCol="0" anchor="ctr"/>
          <a:lstStyle/>
          <a:p>
            <a:pPr marL="0" indent="0">
              <a:lnSpc>
                <a:spcPts val="1600"/>
              </a:lnSpc>
              <a:buNone/>
            </a:pPr>
            <a:r>
              <a:rPr lang="en-US" sz="1200" dirty="0">
                <a:solidFill>
                  <a:srgbClr val="94A3B8"/>
                </a:solidFill>
                <a:latin typeface="Calibri" pitchFamily="34" charset="0"/>
                <a:ea typeface="Calibri" pitchFamily="34" charset="-122"/>
                <a:cs typeface="Calibri" pitchFamily="34" charset="-120"/>
              </a:rPr>
              <a:t>Two thirds of the High tier — 161 of 245 — applied from September 2025 onward. October alone produced 70, more than any other month.</a:t>
            </a:r>
            <a:endParaRPr lang="en-US" sz="1200" dirty="0"/>
          </a:p>
        </p:txBody>
      </p:sp>
      <p:sp>
        <p:nvSpPr>
          <p:cNvPr id="7" name="Shape 4"/>
          <p:cNvSpPr/>
          <p:nvPr/>
        </p:nvSpPr>
        <p:spPr>
          <a:xfrm>
            <a:off x="8366760" y="1627632"/>
            <a:ext cx="3063240" cy="4462272"/>
          </a:xfrm>
          <a:prstGeom prst="roundRect">
            <a:avLst>
              <a:gd name="adj" fmla="val 2388"/>
            </a:avLst>
          </a:prstGeom>
          <a:solidFill>
            <a:srgbClr val="0F1B2E"/>
          </a:solidFill>
          <a:ln w="12700">
            <a:solidFill>
              <a:srgbClr val="334155"/>
            </a:solidFill>
            <a:prstDash val="solid"/>
          </a:ln>
        </p:spPr>
        <p:txBody>
          <a:bodyPr/>
          <a:lstStyle/>
          <a:p>
            <a:endParaRPr lang="en-US"/>
          </a:p>
        </p:txBody>
      </p:sp>
      <p:sp>
        <p:nvSpPr>
          <p:cNvPr id="8" name="Text 5"/>
          <p:cNvSpPr/>
          <p:nvPr/>
        </p:nvSpPr>
        <p:spPr>
          <a:xfrm>
            <a:off x="8595360" y="1810512"/>
            <a:ext cx="2606040" cy="256032"/>
          </a:xfrm>
          <a:prstGeom prst="rect">
            <a:avLst/>
          </a:prstGeom>
          <a:noFill/>
          <a:ln/>
        </p:spPr>
        <p:txBody>
          <a:bodyPr wrap="square" lIns="0" tIns="0" rIns="0" bIns="0" rtlCol="0" anchor="ctr"/>
          <a:lstStyle/>
          <a:p>
            <a:pPr marL="0" indent="0">
              <a:buNone/>
            </a:pPr>
            <a:r>
              <a:rPr lang="en-US" sz="1100" b="1" kern="0" spc="150" dirty="0">
                <a:solidFill>
                  <a:srgbClr val="2DD4BF"/>
                </a:solidFill>
                <a:latin typeface="Calibri" pitchFamily="34" charset="0"/>
                <a:ea typeface="Calibri" pitchFamily="34" charset="-122"/>
                <a:cs typeface="Calibri" pitchFamily="34" charset="-120"/>
              </a:rPr>
              <a:t>THE PATTERN</a:t>
            </a:r>
            <a:endParaRPr lang="en-US" sz="1100" dirty="0"/>
          </a:p>
        </p:txBody>
      </p:sp>
      <p:sp>
        <p:nvSpPr>
          <p:cNvPr id="9" name="Shape 6"/>
          <p:cNvSpPr/>
          <p:nvPr/>
        </p:nvSpPr>
        <p:spPr>
          <a:xfrm>
            <a:off x="8595360" y="2363724"/>
            <a:ext cx="118872" cy="118872"/>
          </a:xfrm>
          <a:prstGeom prst="ellipse">
            <a:avLst/>
          </a:prstGeom>
          <a:solidFill>
            <a:srgbClr val="2DD4BF"/>
          </a:solidFill>
          <a:ln w="12700">
            <a:solidFill>
              <a:srgbClr val="333333"/>
            </a:solidFill>
            <a:prstDash val="solid"/>
          </a:ln>
        </p:spPr>
        <p:txBody>
          <a:bodyPr/>
          <a:lstStyle/>
          <a:p>
            <a:endParaRPr lang="en-US"/>
          </a:p>
        </p:txBody>
      </p:sp>
      <p:sp>
        <p:nvSpPr>
          <p:cNvPr id="10" name="Text 7"/>
          <p:cNvSpPr/>
          <p:nvPr/>
        </p:nvSpPr>
        <p:spPr>
          <a:xfrm>
            <a:off x="8787384" y="2286000"/>
            <a:ext cx="242316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High — present all year</a:t>
            </a:r>
            <a:endParaRPr lang="en-US" sz="1200" dirty="0"/>
          </a:p>
        </p:txBody>
      </p:sp>
      <p:sp>
        <p:nvSpPr>
          <p:cNvPr id="11" name="Text 8"/>
          <p:cNvSpPr/>
          <p:nvPr/>
        </p:nvSpPr>
        <p:spPr>
          <a:xfrm>
            <a:off x="8595360" y="267004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Peaks at 70 in October, ahead of 52 in July. Never absent in any month of the run.</a:t>
            </a:r>
            <a:endParaRPr lang="en-US" sz="1150" dirty="0"/>
          </a:p>
        </p:txBody>
      </p:sp>
      <p:sp>
        <p:nvSpPr>
          <p:cNvPr id="12" name="Shape 9"/>
          <p:cNvSpPr/>
          <p:nvPr/>
        </p:nvSpPr>
        <p:spPr>
          <a:xfrm>
            <a:off x="8595360" y="3594354"/>
            <a:ext cx="118872" cy="118872"/>
          </a:xfrm>
          <a:prstGeom prst="ellipse">
            <a:avLst/>
          </a:prstGeom>
          <a:solidFill>
            <a:srgbClr val="F59E0B"/>
          </a:solidFill>
          <a:ln w="12700">
            <a:solidFill>
              <a:srgbClr val="333333"/>
            </a:solidFill>
            <a:prstDash val="solid"/>
          </a:ln>
        </p:spPr>
        <p:txBody>
          <a:bodyPr/>
          <a:lstStyle/>
          <a:p>
            <a:endParaRPr lang="en-US"/>
          </a:p>
        </p:txBody>
      </p:sp>
      <p:sp>
        <p:nvSpPr>
          <p:cNvPr id="13" name="Text 10"/>
          <p:cNvSpPr/>
          <p:nvPr/>
        </p:nvSpPr>
        <p:spPr>
          <a:xfrm>
            <a:off x="8787384" y="3516630"/>
            <a:ext cx="2423160" cy="27432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Mid — the volume engine</a:t>
            </a:r>
            <a:endParaRPr lang="en-US" sz="1200" dirty="0"/>
          </a:p>
        </p:txBody>
      </p:sp>
      <p:sp>
        <p:nvSpPr>
          <p:cNvPr id="14" name="Text 11"/>
          <p:cNvSpPr/>
          <p:nvPr/>
        </p:nvSpPr>
        <p:spPr>
          <a:xfrm>
            <a:off x="8595360" y="390067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Peaks at 135 in October and is the largest tier in eleven of fourteen months.</a:t>
            </a:r>
            <a:endParaRPr lang="en-US" sz="1150" dirty="0"/>
          </a:p>
        </p:txBody>
      </p:sp>
      <p:sp>
        <p:nvSpPr>
          <p:cNvPr id="15" name="Shape 12"/>
          <p:cNvSpPr/>
          <p:nvPr/>
        </p:nvSpPr>
        <p:spPr>
          <a:xfrm>
            <a:off x="8595360" y="4824984"/>
            <a:ext cx="118872" cy="118872"/>
          </a:xfrm>
          <a:prstGeom prst="ellipse">
            <a:avLst/>
          </a:prstGeom>
          <a:solidFill>
            <a:srgbClr val="F87171"/>
          </a:solidFill>
          <a:ln w="12700">
            <a:solidFill>
              <a:srgbClr val="333333"/>
            </a:solidFill>
            <a:prstDash val="solid"/>
          </a:ln>
        </p:spPr>
        <p:txBody>
          <a:bodyPr/>
          <a:lstStyle/>
          <a:p>
            <a:endParaRPr lang="en-US"/>
          </a:p>
        </p:txBody>
      </p:sp>
      <p:sp>
        <p:nvSpPr>
          <p:cNvPr id="16" name="Text 13"/>
          <p:cNvSpPr/>
          <p:nvPr/>
        </p:nvSpPr>
        <p:spPr>
          <a:xfrm>
            <a:off x="8787384" y="4747260"/>
            <a:ext cx="2423160" cy="274320"/>
          </a:xfrm>
          <a:prstGeom prst="rect">
            <a:avLst/>
          </a:prstGeom>
          <a:noFill/>
          <a:ln/>
        </p:spPr>
        <p:txBody>
          <a:bodyPr wrap="square" lIns="0" tIns="0" rIns="0" bIns="0" rtlCol="0" anchor="ctr"/>
          <a:lstStyle/>
          <a:p>
            <a:pPr marL="0" indent="0">
              <a:buNone/>
            </a:pPr>
            <a:r>
              <a:rPr lang="en-US" sz="1200" b="1" dirty="0">
                <a:solidFill>
                  <a:srgbClr val="F87171"/>
                </a:solidFill>
                <a:latin typeface="Calibri" pitchFamily="34" charset="0"/>
                <a:ea typeface="Calibri" pitchFamily="34" charset="-122"/>
                <a:cs typeface="Calibri" pitchFamily="34" charset="-120"/>
              </a:rPr>
              <a:t>Low — moves with Mid</a:t>
            </a:r>
            <a:endParaRPr lang="en-US" sz="1200" dirty="0"/>
          </a:p>
        </p:txBody>
      </p:sp>
      <p:sp>
        <p:nvSpPr>
          <p:cNvPr id="17" name="Text 14"/>
          <p:cNvSpPr/>
          <p:nvPr/>
        </p:nvSpPr>
        <p:spPr>
          <a:xfrm>
            <a:off x="8595360" y="513130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Peaks at 68 in October and November. Volume falls after November across all tiers alike.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411480"/>
            <a:ext cx="105156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Where the pipeline lives</a:t>
            </a:r>
            <a:endParaRPr lang="en-US" sz="3000" dirty="0"/>
          </a:p>
        </p:txBody>
      </p:sp>
      <p:sp>
        <p:nvSpPr>
          <p:cNvPr id="3" name="Text 1"/>
          <p:cNvSpPr/>
          <p:nvPr/>
        </p:nvSpPr>
        <p:spPr>
          <a:xfrm>
            <a:off x="822960" y="987552"/>
            <a:ext cx="10515600" cy="411480"/>
          </a:xfrm>
          <a:prstGeom prst="rect">
            <a:avLst/>
          </a:prstGeom>
          <a:noFill/>
          <a:ln/>
        </p:spPr>
        <p:txBody>
          <a:bodyPr wrap="square" lIns="0" tIns="0" rIns="0" bIns="0" rtlCol="0" anchor="t"/>
          <a:lstStyle/>
          <a:p>
            <a:pPr marL="0" indent="0">
              <a:buNone/>
            </a:pPr>
            <a:r>
              <a:rPr lang="en-US" sz="1400" dirty="0">
                <a:solidFill>
                  <a:srgbClr val="94A3B8"/>
                </a:solidFill>
                <a:latin typeface="Calibri" pitchFamily="34" charset="0"/>
                <a:ea typeface="Calibri" pitchFamily="34" charset="-122"/>
                <a:cs typeface="Calibri" pitchFamily="34" charset="-120"/>
              </a:rPr>
              <a:t>Applications by province, split by funding-readiness tier.</a:t>
            </a:r>
            <a:endParaRPr lang="en-US" sz="1400" dirty="0"/>
          </a:p>
        </p:txBody>
      </p:sp>
      <p:pic>
        <p:nvPicPr>
          <p:cNvPr id="4" name="Image 0" descr="/sessions/hopeful-festive-mayer/mnt/outputs/charts/chart8.png"/>
          <p:cNvPicPr>
            <a:picLocks noChangeAspect="1"/>
          </p:cNvPicPr>
          <p:nvPr/>
        </p:nvPicPr>
        <p:blipFill>
          <a:blip r:embed="rId3"/>
          <a:stretch>
            <a:fillRect/>
          </a:stretch>
        </p:blipFill>
        <p:spPr>
          <a:xfrm>
            <a:off x="960120" y="1627632"/>
            <a:ext cx="6638544" cy="4206240"/>
          </a:xfrm>
          <a:prstGeom prst="rect">
            <a:avLst/>
          </a:prstGeom>
        </p:spPr>
      </p:pic>
      <p:sp>
        <p:nvSpPr>
          <p:cNvPr id="5" name="Shape 2"/>
          <p:cNvSpPr/>
          <p:nvPr/>
        </p:nvSpPr>
        <p:spPr>
          <a:xfrm>
            <a:off x="8366760" y="1627632"/>
            <a:ext cx="3063240" cy="4462272"/>
          </a:xfrm>
          <a:prstGeom prst="roundRect">
            <a:avLst>
              <a:gd name="adj" fmla="val 2388"/>
            </a:avLst>
          </a:prstGeom>
          <a:solidFill>
            <a:srgbClr val="0F1B2E"/>
          </a:solidFill>
          <a:ln w="12700">
            <a:solidFill>
              <a:srgbClr val="334155"/>
            </a:solidFill>
            <a:prstDash val="solid"/>
          </a:ln>
        </p:spPr>
        <p:txBody>
          <a:bodyPr/>
          <a:lstStyle/>
          <a:p>
            <a:endParaRPr lang="en-US"/>
          </a:p>
        </p:txBody>
      </p:sp>
      <p:sp>
        <p:nvSpPr>
          <p:cNvPr id="6" name="Text 3"/>
          <p:cNvSpPr/>
          <p:nvPr/>
        </p:nvSpPr>
        <p:spPr>
          <a:xfrm>
            <a:off x="8595360" y="1810512"/>
            <a:ext cx="2606040" cy="256032"/>
          </a:xfrm>
          <a:prstGeom prst="rect">
            <a:avLst/>
          </a:prstGeom>
          <a:noFill/>
          <a:ln/>
        </p:spPr>
        <p:txBody>
          <a:bodyPr wrap="square" lIns="0" tIns="0" rIns="0" bIns="0" rtlCol="0" anchor="ctr"/>
          <a:lstStyle/>
          <a:p>
            <a:pPr marL="0" indent="0">
              <a:buNone/>
            </a:pPr>
            <a:r>
              <a:rPr lang="en-US" sz="1100" b="1" kern="0" spc="150" dirty="0">
                <a:solidFill>
                  <a:srgbClr val="2DD4BF"/>
                </a:solidFill>
                <a:latin typeface="Calibri" pitchFamily="34" charset="0"/>
                <a:ea typeface="Calibri" pitchFamily="34" charset="-122"/>
                <a:cs typeface="Calibri" pitchFamily="34" charset="-120"/>
              </a:rPr>
              <a:t>CONCENTRATION</a:t>
            </a:r>
            <a:endParaRPr lang="en-US" sz="1100" dirty="0"/>
          </a:p>
        </p:txBody>
      </p:sp>
      <p:sp>
        <p:nvSpPr>
          <p:cNvPr id="7" name="Shape 4"/>
          <p:cNvSpPr/>
          <p:nvPr/>
        </p:nvSpPr>
        <p:spPr>
          <a:xfrm>
            <a:off x="8595360" y="2363724"/>
            <a:ext cx="118872" cy="118872"/>
          </a:xfrm>
          <a:prstGeom prst="ellipse">
            <a:avLst/>
          </a:prstGeom>
          <a:solidFill>
            <a:srgbClr val="2DD4BF"/>
          </a:solidFill>
          <a:ln w="12700">
            <a:solidFill>
              <a:srgbClr val="333333"/>
            </a:solidFill>
            <a:prstDash val="solid"/>
          </a:ln>
        </p:spPr>
        <p:txBody>
          <a:bodyPr/>
          <a:lstStyle/>
          <a:p>
            <a:endParaRPr lang="en-US"/>
          </a:p>
        </p:txBody>
      </p:sp>
      <p:sp>
        <p:nvSpPr>
          <p:cNvPr id="8" name="Text 5"/>
          <p:cNvSpPr/>
          <p:nvPr/>
        </p:nvSpPr>
        <p:spPr>
          <a:xfrm>
            <a:off x="8787384" y="2286000"/>
            <a:ext cx="2423160" cy="274320"/>
          </a:xfrm>
          <a:prstGeom prst="rect">
            <a:avLst/>
          </a:prstGeom>
          <a:noFill/>
          <a:ln/>
        </p:spPr>
        <p:txBody>
          <a:bodyPr wrap="square" lIns="0" tIns="0" rIns="0" bIns="0" rtlCol="0" anchor="ctr"/>
          <a:lstStyle/>
          <a:p>
            <a:pPr marL="0" indent="0">
              <a:buNone/>
            </a:pPr>
            <a:r>
              <a:rPr lang="en-US" sz="1200" b="1" dirty="0">
                <a:solidFill>
                  <a:srgbClr val="2DD4BF"/>
                </a:solidFill>
                <a:latin typeface="Calibri" pitchFamily="34" charset="0"/>
                <a:ea typeface="Calibri" pitchFamily="34" charset="-122"/>
                <a:cs typeface="Calibri" pitchFamily="34" charset="-120"/>
              </a:rPr>
              <a:t>Three provinces carry it</a:t>
            </a:r>
            <a:endParaRPr lang="en-US" sz="1200" dirty="0"/>
          </a:p>
        </p:txBody>
      </p:sp>
      <p:sp>
        <p:nvSpPr>
          <p:cNvPr id="9" name="Text 6"/>
          <p:cNvSpPr/>
          <p:nvPr/>
        </p:nvSpPr>
        <p:spPr>
          <a:xfrm>
            <a:off x="8595360" y="267004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Gauteng, the Western Cape and Limpopo — and the same three dominate the High tier.</a:t>
            </a:r>
            <a:endParaRPr lang="en-US" sz="1150" dirty="0"/>
          </a:p>
        </p:txBody>
      </p:sp>
      <p:sp>
        <p:nvSpPr>
          <p:cNvPr id="10" name="Shape 7"/>
          <p:cNvSpPr/>
          <p:nvPr/>
        </p:nvSpPr>
        <p:spPr>
          <a:xfrm>
            <a:off x="8595360" y="3594354"/>
            <a:ext cx="118872" cy="118872"/>
          </a:xfrm>
          <a:prstGeom prst="ellipse">
            <a:avLst/>
          </a:prstGeom>
          <a:solidFill>
            <a:srgbClr val="F59E0B"/>
          </a:solidFill>
          <a:ln w="12700">
            <a:solidFill>
              <a:srgbClr val="333333"/>
            </a:solidFill>
            <a:prstDash val="solid"/>
          </a:ln>
        </p:spPr>
        <p:txBody>
          <a:bodyPr/>
          <a:lstStyle/>
          <a:p>
            <a:endParaRPr lang="en-US"/>
          </a:p>
        </p:txBody>
      </p:sp>
      <p:sp>
        <p:nvSpPr>
          <p:cNvPr id="11" name="Text 8"/>
          <p:cNvSpPr/>
          <p:nvPr/>
        </p:nvSpPr>
        <p:spPr>
          <a:xfrm>
            <a:off x="8787384" y="3516630"/>
            <a:ext cx="2423160" cy="27432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That maps to live events</a:t>
            </a:r>
            <a:endParaRPr lang="en-US" sz="1200" dirty="0"/>
          </a:p>
        </p:txBody>
      </p:sp>
      <p:sp>
        <p:nvSpPr>
          <p:cNvPr id="12" name="Text 9"/>
          <p:cNvSpPr/>
          <p:nvPr/>
        </p:nvSpPr>
        <p:spPr>
          <a:xfrm>
            <a:off x="8595360" y="390067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Exactly where the initiative ran in person in 2023 and 2024. Presence produced pipeline.</a:t>
            </a:r>
            <a:endParaRPr lang="en-US" sz="1150" dirty="0"/>
          </a:p>
        </p:txBody>
      </p:sp>
      <p:sp>
        <p:nvSpPr>
          <p:cNvPr id="13" name="Shape 10"/>
          <p:cNvSpPr/>
          <p:nvPr/>
        </p:nvSpPr>
        <p:spPr>
          <a:xfrm>
            <a:off x="8595360" y="4824984"/>
            <a:ext cx="118872" cy="118872"/>
          </a:xfrm>
          <a:prstGeom prst="ellipse">
            <a:avLst/>
          </a:prstGeom>
          <a:solidFill>
            <a:srgbClr val="F87171"/>
          </a:solidFill>
          <a:ln w="12700">
            <a:solidFill>
              <a:srgbClr val="333333"/>
            </a:solidFill>
            <a:prstDash val="solid"/>
          </a:ln>
        </p:spPr>
        <p:txBody>
          <a:bodyPr/>
          <a:lstStyle/>
          <a:p>
            <a:endParaRPr lang="en-US"/>
          </a:p>
        </p:txBody>
      </p:sp>
      <p:sp>
        <p:nvSpPr>
          <p:cNvPr id="14" name="Text 11"/>
          <p:cNvSpPr/>
          <p:nvPr/>
        </p:nvSpPr>
        <p:spPr>
          <a:xfrm>
            <a:off x="8787384" y="4747260"/>
            <a:ext cx="2423160" cy="274320"/>
          </a:xfrm>
          <a:prstGeom prst="rect">
            <a:avLst/>
          </a:prstGeom>
          <a:noFill/>
          <a:ln/>
        </p:spPr>
        <p:txBody>
          <a:bodyPr wrap="square" lIns="0" tIns="0" rIns="0" bIns="0" rtlCol="0" anchor="ctr"/>
          <a:lstStyle/>
          <a:p>
            <a:pPr marL="0" indent="0">
              <a:buNone/>
            </a:pPr>
            <a:r>
              <a:rPr lang="en-US" sz="1200" b="1" dirty="0">
                <a:solidFill>
                  <a:srgbClr val="F87171"/>
                </a:solidFill>
                <a:latin typeface="Calibri" pitchFamily="34" charset="0"/>
                <a:ea typeface="Calibri" pitchFamily="34" charset="-122"/>
                <a:cs typeface="Calibri" pitchFamily="34" charset="-120"/>
              </a:rPr>
              <a:t>Six provinces are absent</a:t>
            </a:r>
            <a:endParaRPr lang="en-US" sz="1200" dirty="0"/>
          </a:p>
        </p:txBody>
      </p:sp>
      <p:sp>
        <p:nvSpPr>
          <p:cNvPr id="15" name="Text 12"/>
          <p:cNvSpPr/>
          <p:nvPr/>
        </p:nvSpPr>
        <p:spPr>
          <a:xfrm>
            <a:off x="8595360" y="5131308"/>
            <a:ext cx="2606040" cy="59055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Mpumalanga down to the Northern Cape barely register. Six provinces the initiative has never visited in person.</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384048"/>
            <a:ext cx="10515600" cy="292608"/>
          </a:xfrm>
          <a:prstGeom prst="rect">
            <a:avLst/>
          </a:prstGeom>
          <a:noFill/>
          <a:ln/>
        </p:spPr>
        <p:txBody>
          <a:bodyPr wrap="square" lIns="0" tIns="0" rIns="0" bIns="0" rtlCol="0" anchor="ctr"/>
          <a:lstStyle/>
          <a:p>
            <a:pPr marL="0" indent="0">
              <a:buNone/>
            </a:pPr>
            <a:r>
              <a:rPr lang="en-US" sz="1200" b="1" kern="0" spc="250" dirty="0">
                <a:solidFill>
                  <a:srgbClr val="2DD4BF"/>
                </a:solidFill>
                <a:latin typeface="Calibri" pitchFamily="34" charset="0"/>
                <a:ea typeface="Calibri" pitchFamily="34" charset="-122"/>
                <a:cs typeface="Calibri" pitchFamily="34" charset="-120"/>
              </a:rPr>
              <a:t>ACTION — HIGH TIER</a:t>
            </a:r>
            <a:endParaRPr lang="en-US" sz="1200" dirty="0"/>
          </a:p>
        </p:txBody>
      </p:sp>
      <p:sp>
        <p:nvSpPr>
          <p:cNvPr id="3" name="Text 1"/>
          <p:cNvSpPr/>
          <p:nvPr/>
        </p:nvSpPr>
        <p:spPr>
          <a:xfrm>
            <a:off x="822960" y="685800"/>
            <a:ext cx="10515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Fund now: take 245 businesses to market this quarter</a:t>
            </a:r>
            <a:endParaRPr lang="en-US" sz="3000" dirty="0"/>
          </a:p>
        </p:txBody>
      </p:sp>
      <p:sp>
        <p:nvSpPr>
          <p:cNvPr id="4" name="Shape 2"/>
          <p:cNvSpPr/>
          <p:nvPr/>
        </p:nvSpPr>
        <p:spPr>
          <a:xfrm>
            <a:off x="822960" y="1481328"/>
            <a:ext cx="3794760" cy="4572000"/>
          </a:xfrm>
          <a:prstGeom prst="roundRect">
            <a:avLst>
              <a:gd name="adj" fmla="val 1928"/>
            </a:avLst>
          </a:prstGeom>
          <a:solidFill>
            <a:srgbClr val="0F1B2E"/>
          </a:solidFill>
          <a:ln w="12700">
            <a:solidFill>
              <a:srgbClr val="334155"/>
            </a:solidFill>
            <a:prstDash val="solid"/>
          </a:ln>
        </p:spPr>
        <p:txBody>
          <a:bodyPr/>
          <a:lstStyle/>
          <a:p>
            <a:endParaRPr lang="en-US"/>
          </a:p>
        </p:txBody>
      </p:sp>
      <p:sp>
        <p:nvSpPr>
          <p:cNvPr id="5" name="Text 3"/>
          <p:cNvSpPr/>
          <p:nvPr/>
        </p:nvSpPr>
        <p:spPr>
          <a:xfrm>
            <a:off x="1097280" y="1691640"/>
            <a:ext cx="3291840" cy="777240"/>
          </a:xfrm>
          <a:prstGeom prst="rect">
            <a:avLst/>
          </a:prstGeom>
          <a:noFill/>
          <a:ln/>
        </p:spPr>
        <p:txBody>
          <a:bodyPr wrap="square" lIns="0" tIns="0" rIns="0" bIns="0" rtlCol="0" anchor="ctr"/>
          <a:lstStyle/>
          <a:p>
            <a:pPr marL="0" indent="0">
              <a:buNone/>
            </a:pPr>
            <a:r>
              <a:rPr lang="en-US" sz="4400" b="1" dirty="0">
                <a:solidFill>
                  <a:srgbClr val="2DD4BF"/>
                </a:solidFill>
                <a:latin typeface="Cambria" pitchFamily="34" charset="0"/>
                <a:ea typeface="Cambria" pitchFamily="34" charset="-122"/>
                <a:cs typeface="Cambria" pitchFamily="34" charset="-120"/>
              </a:rPr>
              <a:t>245</a:t>
            </a:r>
            <a:endParaRPr lang="en-US" sz="4400" dirty="0"/>
          </a:p>
        </p:txBody>
      </p:sp>
      <p:sp>
        <p:nvSpPr>
          <p:cNvPr id="6" name="Text 4"/>
          <p:cNvSpPr/>
          <p:nvPr/>
        </p:nvSpPr>
        <p:spPr>
          <a:xfrm>
            <a:off x="1097280" y="2468880"/>
            <a:ext cx="3291840" cy="274320"/>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investor-ready businesses</a:t>
            </a:r>
            <a:endParaRPr lang="en-US" sz="1250" dirty="0"/>
          </a:p>
        </p:txBody>
      </p:sp>
      <p:sp>
        <p:nvSpPr>
          <p:cNvPr id="7" name="Text 5"/>
          <p:cNvSpPr/>
          <p:nvPr/>
        </p:nvSpPr>
        <p:spPr>
          <a:xfrm>
            <a:off x="1097280" y="2852928"/>
            <a:ext cx="3291840" cy="256032"/>
          </a:xfrm>
          <a:prstGeom prst="rect">
            <a:avLst/>
          </a:prstGeom>
          <a:noFill/>
          <a:ln/>
        </p:spPr>
        <p:txBody>
          <a:bodyPr wrap="square" lIns="0" tIns="0" rIns="0" bIns="0" rtlCol="0" anchor="ctr"/>
          <a:lstStyle/>
          <a:p>
            <a:pPr marL="0" indent="0">
              <a:buNone/>
            </a:pPr>
            <a:r>
              <a:rPr lang="en-US" sz="1100" b="1" kern="0" spc="150" dirty="0">
                <a:solidFill>
                  <a:srgbClr val="2DD4BF"/>
                </a:solidFill>
                <a:latin typeface="Calibri" pitchFamily="34" charset="0"/>
                <a:ea typeface="Calibri" pitchFamily="34" charset="-122"/>
                <a:cs typeface="Calibri" pitchFamily="34" charset="-120"/>
              </a:rPr>
              <a:t>THE POSITION</a:t>
            </a:r>
            <a:endParaRPr lang="en-US" sz="1100" dirty="0"/>
          </a:p>
        </p:txBody>
      </p:sp>
      <p:sp>
        <p:nvSpPr>
          <p:cNvPr id="8" name="Text 6"/>
          <p:cNvSpPr/>
          <p:nvPr/>
        </p:nvSpPr>
        <p:spPr>
          <a:xfrm>
            <a:off x="1097280" y="3145536"/>
            <a:ext cx="3246120" cy="118110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These require no preparation. They trade at scale, employ real people, hold the strongest transformation credentials in the pool, and — alone among the tiers — ask for less than they earn. The only thing standing between them and capital is an introduction.</a:t>
            </a:r>
            <a:endParaRPr lang="en-US" sz="1150" dirty="0"/>
          </a:p>
        </p:txBody>
      </p:sp>
      <p:sp>
        <p:nvSpPr>
          <p:cNvPr id="9" name="Text 7"/>
          <p:cNvSpPr/>
          <p:nvPr/>
        </p:nvSpPr>
        <p:spPr>
          <a:xfrm>
            <a:off x="1097280" y="4546092"/>
            <a:ext cx="1920240" cy="310896"/>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Capital sought</a:t>
            </a:r>
            <a:endParaRPr lang="en-US" sz="1150" dirty="0"/>
          </a:p>
        </p:txBody>
      </p:sp>
      <p:sp>
        <p:nvSpPr>
          <p:cNvPr id="10" name="Text 8"/>
          <p:cNvSpPr/>
          <p:nvPr/>
        </p:nvSpPr>
        <p:spPr>
          <a:xfrm>
            <a:off x="2926080" y="4546092"/>
            <a:ext cx="1463040" cy="310896"/>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R3.24 bn</a:t>
            </a:r>
            <a:endParaRPr lang="en-US" sz="1300" dirty="0"/>
          </a:p>
        </p:txBody>
      </p:sp>
      <p:sp>
        <p:nvSpPr>
          <p:cNvPr id="11" name="Text 9"/>
          <p:cNvSpPr/>
          <p:nvPr/>
        </p:nvSpPr>
        <p:spPr>
          <a:xfrm>
            <a:off x="1097280" y="4883912"/>
            <a:ext cx="1920240" cy="310896"/>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Revenue generated</a:t>
            </a:r>
            <a:endParaRPr lang="en-US" sz="1150" dirty="0"/>
          </a:p>
        </p:txBody>
      </p:sp>
      <p:sp>
        <p:nvSpPr>
          <p:cNvPr id="12" name="Text 10"/>
          <p:cNvSpPr/>
          <p:nvPr/>
        </p:nvSpPr>
        <p:spPr>
          <a:xfrm>
            <a:off x="2926080" y="4883912"/>
            <a:ext cx="1463040" cy="310896"/>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R4.05 bn</a:t>
            </a:r>
            <a:endParaRPr lang="en-US" sz="1300" dirty="0"/>
          </a:p>
        </p:txBody>
      </p:sp>
      <p:sp>
        <p:nvSpPr>
          <p:cNvPr id="13" name="Text 11"/>
          <p:cNvSpPr/>
          <p:nvPr/>
        </p:nvSpPr>
        <p:spPr>
          <a:xfrm>
            <a:off x="1097280" y="5221732"/>
            <a:ext cx="1920240" cy="310896"/>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Ask-to-revenue</a:t>
            </a:r>
            <a:endParaRPr lang="en-US" sz="1150" dirty="0"/>
          </a:p>
        </p:txBody>
      </p:sp>
      <p:sp>
        <p:nvSpPr>
          <p:cNvPr id="14" name="Text 12"/>
          <p:cNvSpPr/>
          <p:nvPr/>
        </p:nvSpPr>
        <p:spPr>
          <a:xfrm>
            <a:off x="2926080" y="5221732"/>
            <a:ext cx="1463040" cy="310896"/>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0.80×</a:t>
            </a:r>
            <a:endParaRPr lang="en-US" sz="1300" dirty="0"/>
          </a:p>
        </p:txBody>
      </p:sp>
      <p:sp>
        <p:nvSpPr>
          <p:cNvPr id="15" name="Text 13"/>
          <p:cNvSpPr/>
          <p:nvPr/>
        </p:nvSpPr>
        <p:spPr>
          <a:xfrm>
            <a:off x="1097280" y="5559552"/>
            <a:ext cx="1920240" cy="310896"/>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Already employed</a:t>
            </a:r>
            <a:endParaRPr lang="en-US" sz="1150" dirty="0"/>
          </a:p>
        </p:txBody>
      </p:sp>
      <p:sp>
        <p:nvSpPr>
          <p:cNvPr id="16" name="Text 14"/>
          <p:cNvSpPr/>
          <p:nvPr/>
        </p:nvSpPr>
        <p:spPr>
          <a:xfrm>
            <a:off x="2926080" y="5559552"/>
            <a:ext cx="1463040" cy="310896"/>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5,690</a:t>
            </a:r>
            <a:endParaRPr lang="en-US" sz="1300" dirty="0"/>
          </a:p>
        </p:txBody>
      </p:sp>
      <p:sp>
        <p:nvSpPr>
          <p:cNvPr id="17" name="Text 15"/>
          <p:cNvSpPr/>
          <p:nvPr/>
        </p:nvSpPr>
        <p:spPr>
          <a:xfrm>
            <a:off x="5029200" y="1536192"/>
            <a:ext cx="6400800" cy="274320"/>
          </a:xfrm>
          <a:prstGeom prst="rect">
            <a:avLst/>
          </a:prstGeom>
          <a:noFill/>
          <a:ln/>
        </p:spPr>
        <p:txBody>
          <a:bodyPr wrap="square" lIns="0" tIns="0" rIns="0" bIns="0" rtlCol="0" anchor="ctr"/>
          <a:lstStyle/>
          <a:p>
            <a:pPr marL="0" indent="0">
              <a:buNone/>
            </a:pPr>
            <a:r>
              <a:rPr lang="en-US" sz="1100" b="1" kern="0" spc="150" dirty="0">
                <a:solidFill>
                  <a:srgbClr val="2DD4BF"/>
                </a:solidFill>
                <a:latin typeface="Calibri" pitchFamily="34" charset="0"/>
                <a:ea typeface="Calibri" pitchFamily="34" charset="-122"/>
                <a:cs typeface="Calibri" pitchFamily="34" charset="-120"/>
              </a:rPr>
              <a:t>WHAT THE SME TEAM DOES</a:t>
            </a:r>
            <a:endParaRPr lang="en-US" sz="1100" dirty="0"/>
          </a:p>
        </p:txBody>
      </p:sp>
      <p:sp>
        <p:nvSpPr>
          <p:cNvPr id="18" name="Shape 16"/>
          <p:cNvSpPr/>
          <p:nvPr/>
        </p:nvSpPr>
        <p:spPr>
          <a:xfrm>
            <a:off x="5029200" y="1938528"/>
            <a:ext cx="329184" cy="329184"/>
          </a:xfrm>
          <a:prstGeom prst="ellipse">
            <a:avLst/>
          </a:prstGeom>
          <a:solidFill>
            <a:srgbClr val="2DD4BF"/>
          </a:solidFill>
          <a:ln w="12700">
            <a:solidFill>
              <a:srgbClr val="333333"/>
            </a:solidFill>
            <a:prstDash val="solid"/>
          </a:ln>
        </p:spPr>
        <p:txBody>
          <a:bodyPr/>
          <a:lstStyle/>
          <a:p>
            <a:endParaRPr lang="en-US"/>
          </a:p>
        </p:txBody>
      </p:sp>
      <p:sp>
        <p:nvSpPr>
          <p:cNvPr id="19" name="Text 17"/>
          <p:cNvSpPr/>
          <p:nvPr/>
        </p:nvSpPr>
        <p:spPr>
          <a:xfrm>
            <a:off x="5029200" y="1938528"/>
            <a:ext cx="329184" cy="329184"/>
          </a:xfrm>
          <a:prstGeom prst="rect">
            <a:avLst/>
          </a:prstGeom>
          <a:noFill/>
          <a:ln/>
        </p:spPr>
        <p:txBody>
          <a:bodyPr wrap="square" lIns="0" tIns="0" rIns="0" bIns="0" rtlCol="0" anchor="ctr"/>
          <a:lstStyle/>
          <a:p>
            <a:pPr marL="0" indent="0" algn="ctr">
              <a:buNone/>
            </a:pPr>
            <a:r>
              <a:rPr lang="en-US" sz="1500" b="1" dirty="0">
                <a:solidFill>
                  <a:srgbClr val="0F1B2E"/>
                </a:solidFill>
                <a:latin typeface="Cambria" pitchFamily="34" charset="0"/>
                <a:ea typeface="Cambria" pitchFamily="34" charset="-122"/>
                <a:cs typeface="Cambria" pitchFamily="34" charset="-120"/>
              </a:rPr>
              <a:t>1</a:t>
            </a:r>
            <a:endParaRPr lang="en-US" sz="1500" dirty="0"/>
          </a:p>
        </p:txBody>
      </p:sp>
      <p:sp>
        <p:nvSpPr>
          <p:cNvPr id="20" name="Text 18"/>
          <p:cNvSpPr/>
          <p:nvPr/>
        </p:nvSpPr>
        <p:spPr>
          <a:xfrm>
            <a:off x="5504688" y="1901952"/>
            <a:ext cx="585216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Package now, do not re-screen</a:t>
            </a:r>
            <a:endParaRPr lang="en-US" sz="1400" dirty="0"/>
          </a:p>
        </p:txBody>
      </p:sp>
      <p:sp>
        <p:nvSpPr>
          <p:cNvPr id="21" name="Text 19"/>
          <p:cNvSpPr/>
          <p:nvPr/>
        </p:nvSpPr>
        <p:spPr>
          <a:xfrm>
            <a:off x="5504688" y="2231136"/>
            <a:ext cx="5852160" cy="658368"/>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Build a one-page profile per business from fields already captured. Nothing further needs collecting (re-screening this tier only delays it)</a:t>
            </a:r>
            <a:endParaRPr lang="en-US" sz="1150" dirty="0"/>
          </a:p>
        </p:txBody>
      </p:sp>
      <p:sp>
        <p:nvSpPr>
          <p:cNvPr id="22" name="Shape 20"/>
          <p:cNvSpPr/>
          <p:nvPr/>
        </p:nvSpPr>
        <p:spPr>
          <a:xfrm>
            <a:off x="5029200" y="2980944"/>
            <a:ext cx="329184" cy="329184"/>
          </a:xfrm>
          <a:prstGeom prst="ellipse">
            <a:avLst/>
          </a:prstGeom>
          <a:solidFill>
            <a:srgbClr val="2DD4BF"/>
          </a:solidFill>
          <a:ln w="12700">
            <a:solidFill>
              <a:srgbClr val="333333"/>
            </a:solidFill>
            <a:prstDash val="solid"/>
          </a:ln>
        </p:spPr>
        <p:txBody>
          <a:bodyPr/>
          <a:lstStyle/>
          <a:p>
            <a:endParaRPr lang="en-US"/>
          </a:p>
        </p:txBody>
      </p:sp>
      <p:sp>
        <p:nvSpPr>
          <p:cNvPr id="23" name="Text 21"/>
          <p:cNvSpPr/>
          <p:nvPr/>
        </p:nvSpPr>
        <p:spPr>
          <a:xfrm>
            <a:off x="5029200" y="2980944"/>
            <a:ext cx="329184" cy="329184"/>
          </a:xfrm>
          <a:prstGeom prst="rect">
            <a:avLst/>
          </a:prstGeom>
          <a:noFill/>
          <a:ln/>
        </p:spPr>
        <p:txBody>
          <a:bodyPr wrap="square" lIns="0" tIns="0" rIns="0" bIns="0" rtlCol="0" anchor="ctr"/>
          <a:lstStyle/>
          <a:p>
            <a:pPr marL="0" indent="0" algn="ctr">
              <a:buNone/>
            </a:pPr>
            <a:r>
              <a:rPr lang="en-US" sz="1500" b="1" dirty="0">
                <a:solidFill>
                  <a:srgbClr val="0F1B2E"/>
                </a:solidFill>
                <a:latin typeface="Cambria" pitchFamily="34" charset="0"/>
                <a:ea typeface="Cambria" pitchFamily="34" charset="-122"/>
                <a:cs typeface="Cambria" pitchFamily="34" charset="-120"/>
              </a:rPr>
              <a:t>2</a:t>
            </a:r>
            <a:endParaRPr lang="en-US" sz="1500" dirty="0"/>
          </a:p>
        </p:txBody>
      </p:sp>
      <p:sp>
        <p:nvSpPr>
          <p:cNvPr id="24" name="Text 22"/>
          <p:cNvSpPr/>
          <p:nvPr/>
        </p:nvSpPr>
        <p:spPr>
          <a:xfrm>
            <a:off x="5504688" y="2944368"/>
            <a:ext cx="585216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Match to mandate, not to queue</a:t>
            </a:r>
            <a:endParaRPr lang="en-US" sz="1400" dirty="0"/>
          </a:p>
        </p:txBody>
      </p:sp>
      <p:sp>
        <p:nvSpPr>
          <p:cNvPr id="25" name="Text 23"/>
          <p:cNvSpPr/>
          <p:nvPr/>
        </p:nvSpPr>
        <p:spPr>
          <a:xfrm>
            <a:off x="5504688" y="3273552"/>
            <a:ext cx="5852160" cy="658368"/>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Sort by sector, province and transformation profile, then map each cluster to the funders whose mandate it fits. A B-BBEE-mandated development financier and a sector fund want different subsets.</a:t>
            </a:r>
            <a:endParaRPr lang="en-US" sz="1150" dirty="0"/>
          </a:p>
        </p:txBody>
      </p:sp>
      <p:sp>
        <p:nvSpPr>
          <p:cNvPr id="26" name="Shape 24"/>
          <p:cNvSpPr/>
          <p:nvPr/>
        </p:nvSpPr>
        <p:spPr>
          <a:xfrm>
            <a:off x="5029200" y="4023360"/>
            <a:ext cx="329184" cy="329184"/>
          </a:xfrm>
          <a:prstGeom prst="ellipse">
            <a:avLst/>
          </a:prstGeom>
          <a:solidFill>
            <a:srgbClr val="2DD4BF"/>
          </a:solidFill>
          <a:ln w="12700">
            <a:solidFill>
              <a:srgbClr val="333333"/>
            </a:solidFill>
            <a:prstDash val="solid"/>
          </a:ln>
        </p:spPr>
        <p:txBody>
          <a:bodyPr/>
          <a:lstStyle/>
          <a:p>
            <a:endParaRPr lang="en-US"/>
          </a:p>
        </p:txBody>
      </p:sp>
      <p:sp>
        <p:nvSpPr>
          <p:cNvPr id="27" name="Text 25"/>
          <p:cNvSpPr/>
          <p:nvPr/>
        </p:nvSpPr>
        <p:spPr>
          <a:xfrm>
            <a:off x="5029200" y="4023360"/>
            <a:ext cx="329184" cy="329184"/>
          </a:xfrm>
          <a:prstGeom prst="rect">
            <a:avLst/>
          </a:prstGeom>
          <a:noFill/>
          <a:ln/>
        </p:spPr>
        <p:txBody>
          <a:bodyPr wrap="square" lIns="0" tIns="0" rIns="0" bIns="0" rtlCol="0" anchor="ctr"/>
          <a:lstStyle/>
          <a:p>
            <a:pPr marL="0" indent="0" algn="ctr">
              <a:buNone/>
            </a:pPr>
            <a:r>
              <a:rPr lang="en-US" sz="1500" b="1" dirty="0">
                <a:solidFill>
                  <a:srgbClr val="0F1B2E"/>
                </a:solidFill>
                <a:latin typeface="Cambria" pitchFamily="34" charset="0"/>
                <a:ea typeface="Cambria" pitchFamily="34" charset="-122"/>
                <a:cs typeface="Cambria" pitchFamily="34" charset="-120"/>
              </a:rPr>
              <a:t>3</a:t>
            </a:r>
            <a:endParaRPr lang="en-US" sz="1500" dirty="0"/>
          </a:p>
        </p:txBody>
      </p:sp>
      <p:sp>
        <p:nvSpPr>
          <p:cNvPr id="28" name="Text 26"/>
          <p:cNvSpPr/>
          <p:nvPr/>
        </p:nvSpPr>
        <p:spPr>
          <a:xfrm>
            <a:off x="5504688" y="3986784"/>
            <a:ext cx="585216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Lead with the ratio</a:t>
            </a:r>
            <a:endParaRPr lang="en-US" sz="1400" dirty="0"/>
          </a:p>
        </p:txBody>
      </p:sp>
      <p:sp>
        <p:nvSpPr>
          <p:cNvPr id="29" name="Text 27"/>
          <p:cNvSpPr/>
          <p:nvPr/>
        </p:nvSpPr>
        <p:spPr>
          <a:xfrm>
            <a:off x="5504688" y="4315968"/>
            <a:ext cx="5852160" cy="658368"/>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The 0.80× ask-to-revenue figure is the strongest single argument in the pipeline. Put it on the first page of every pack.</a:t>
            </a:r>
            <a:endParaRPr lang="en-US" sz="1150" dirty="0"/>
          </a:p>
        </p:txBody>
      </p:sp>
      <p:sp>
        <p:nvSpPr>
          <p:cNvPr id="30" name="Shape 28"/>
          <p:cNvSpPr/>
          <p:nvPr/>
        </p:nvSpPr>
        <p:spPr>
          <a:xfrm>
            <a:off x="5029200" y="5065776"/>
            <a:ext cx="329184" cy="329184"/>
          </a:xfrm>
          <a:prstGeom prst="ellipse">
            <a:avLst/>
          </a:prstGeom>
          <a:solidFill>
            <a:srgbClr val="2DD4BF"/>
          </a:solidFill>
          <a:ln w="12700">
            <a:solidFill>
              <a:srgbClr val="333333"/>
            </a:solidFill>
            <a:prstDash val="solid"/>
          </a:ln>
        </p:spPr>
        <p:txBody>
          <a:bodyPr/>
          <a:lstStyle/>
          <a:p>
            <a:endParaRPr lang="en-US"/>
          </a:p>
        </p:txBody>
      </p:sp>
      <p:sp>
        <p:nvSpPr>
          <p:cNvPr id="31" name="Text 29"/>
          <p:cNvSpPr/>
          <p:nvPr/>
        </p:nvSpPr>
        <p:spPr>
          <a:xfrm>
            <a:off x="5029200" y="5065776"/>
            <a:ext cx="329184" cy="329184"/>
          </a:xfrm>
          <a:prstGeom prst="rect">
            <a:avLst/>
          </a:prstGeom>
          <a:noFill/>
          <a:ln/>
        </p:spPr>
        <p:txBody>
          <a:bodyPr wrap="square" lIns="0" tIns="0" rIns="0" bIns="0" rtlCol="0" anchor="ctr"/>
          <a:lstStyle/>
          <a:p>
            <a:pPr marL="0" indent="0" algn="ctr">
              <a:buNone/>
            </a:pPr>
            <a:r>
              <a:rPr lang="en-US" sz="1500" b="1" dirty="0">
                <a:solidFill>
                  <a:srgbClr val="0F1B2E"/>
                </a:solidFill>
                <a:latin typeface="Cambria" pitchFamily="34" charset="0"/>
                <a:ea typeface="Cambria" pitchFamily="34" charset="-122"/>
                <a:cs typeface="Cambria" pitchFamily="34" charset="-120"/>
              </a:rPr>
              <a:t>4</a:t>
            </a:r>
            <a:endParaRPr lang="en-US" sz="1500" dirty="0"/>
          </a:p>
        </p:txBody>
      </p:sp>
      <p:sp>
        <p:nvSpPr>
          <p:cNvPr id="32" name="Text 30"/>
          <p:cNvSpPr/>
          <p:nvPr/>
        </p:nvSpPr>
        <p:spPr>
          <a:xfrm>
            <a:off x="5504688" y="5029200"/>
            <a:ext cx="585216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Convert three into reference stories</a:t>
            </a:r>
            <a:endParaRPr lang="en-US" sz="1400" dirty="0"/>
          </a:p>
        </p:txBody>
      </p:sp>
      <p:sp>
        <p:nvSpPr>
          <p:cNvPr id="33" name="Text 31"/>
          <p:cNvSpPr/>
          <p:nvPr/>
        </p:nvSpPr>
        <p:spPr>
          <a:xfrm>
            <a:off x="5504688" y="5358384"/>
            <a:ext cx="5852160" cy="658368"/>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Prioritise the first closes for publicity. Each named deal is what recruits the next funder into the initiative.</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384048"/>
            <a:ext cx="10515600" cy="292608"/>
          </a:xfrm>
          <a:prstGeom prst="rect">
            <a:avLst/>
          </a:prstGeom>
          <a:noFill/>
          <a:ln/>
        </p:spPr>
        <p:txBody>
          <a:bodyPr wrap="square" lIns="0" tIns="0" rIns="0" bIns="0" rtlCol="0" anchor="ctr"/>
          <a:lstStyle/>
          <a:p>
            <a:pPr marL="0" indent="0">
              <a:buNone/>
            </a:pPr>
            <a:r>
              <a:rPr lang="en-US" sz="1200" b="1" kern="0" spc="250" dirty="0">
                <a:solidFill>
                  <a:srgbClr val="F59E0B"/>
                </a:solidFill>
                <a:latin typeface="Calibri" pitchFamily="34" charset="0"/>
                <a:ea typeface="Calibri" pitchFamily="34" charset="-122"/>
                <a:cs typeface="Calibri" pitchFamily="34" charset="-120"/>
              </a:rPr>
              <a:t>ACTION — MID TIER</a:t>
            </a:r>
            <a:endParaRPr lang="en-US" sz="1200" dirty="0"/>
          </a:p>
        </p:txBody>
      </p:sp>
      <p:sp>
        <p:nvSpPr>
          <p:cNvPr id="3" name="Text 1"/>
          <p:cNvSpPr/>
          <p:nvPr/>
        </p:nvSpPr>
        <p:spPr>
          <a:xfrm>
            <a:off x="822960" y="685800"/>
            <a:ext cx="10515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Develop and re-score: the largest source of new deals</a:t>
            </a:r>
            <a:endParaRPr lang="en-US" sz="3000" dirty="0"/>
          </a:p>
        </p:txBody>
      </p:sp>
      <p:sp>
        <p:nvSpPr>
          <p:cNvPr id="4" name="Shape 2"/>
          <p:cNvSpPr/>
          <p:nvPr/>
        </p:nvSpPr>
        <p:spPr>
          <a:xfrm>
            <a:off x="822960" y="1481328"/>
            <a:ext cx="3794760" cy="4572000"/>
          </a:xfrm>
          <a:prstGeom prst="roundRect">
            <a:avLst>
              <a:gd name="adj" fmla="val 1928"/>
            </a:avLst>
          </a:prstGeom>
          <a:solidFill>
            <a:srgbClr val="0F1B2E"/>
          </a:solidFill>
          <a:ln w="12700">
            <a:solidFill>
              <a:srgbClr val="334155"/>
            </a:solidFill>
            <a:prstDash val="solid"/>
          </a:ln>
        </p:spPr>
        <p:txBody>
          <a:bodyPr/>
          <a:lstStyle/>
          <a:p>
            <a:endParaRPr lang="en-US"/>
          </a:p>
        </p:txBody>
      </p:sp>
      <p:sp>
        <p:nvSpPr>
          <p:cNvPr id="5" name="Text 3"/>
          <p:cNvSpPr/>
          <p:nvPr/>
        </p:nvSpPr>
        <p:spPr>
          <a:xfrm>
            <a:off x="1097280" y="1691640"/>
            <a:ext cx="3291840" cy="777240"/>
          </a:xfrm>
          <a:prstGeom prst="rect">
            <a:avLst/>
          </a:prstGeom>
          <a:noFill/>
          <a:ln/>
        </p:spPr>
        <p:txBody>
          <a:bodyPr wrap="square" lIns="0" tIns="0" rIns="0" bIns="0" rtlCol="0" anchor="ctr"/>
          <a:lstStyle/>
          <a:p>
            <a:pPr marL="0" indent="0">
              <a:buNone/>
            </a:pPr>
            <a:r>
              <a:rPr lang="en-US" sz="4400" b="1" dirty="0">
                <a:solidFill>
                  <a:srgbClr val="F59E0B"/>
                </a:solidFill>
                <a:latin typeface="Cambria" pitchFamily="34" charset="0"/>
                <a:ea typeface="Cambria" pitchFamily="34" charset="-122"/>
                <a:cs typeface="Cambria" pitchFamily="34" charset="-120"/>
              </a:rPr>
              <a:t>595</a:t>
            </a:r>
            <a:endParaRPr lang="en-US" sz="4400" dirty="0"/>
          </a:p>
        </p:txBody>
      </p:sp>
      <p:sp>
        <p:nvSpPr>
          <p:cNvPr id="6" name="Text 4"/>
          <p:cNvSpPr/>
          <p:nvPr/>
        </p:nvSpPr>
        <p:spPr>
          <a:xfrm>
            <a:off x="1097280" y="2468880"/>
            <a:ext cx="3291840" cy="274320"/>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businesses, 53.3% of the pool</a:t>
            </a:r>
            <a:endParaRPr lang="en-US" sz="1250" dirty="0"/>
          </a:p>
        </p:txBody>
      </p:sp>
      <p:sp>
        <p:nvSpPr>
          <p:cNvPr id="7" name="Text 5"/>
          <p:cNvSpPr/>
          <p:nvPr/>
        </p:nvSpPr>
        <p:spPr>
          <a:xfrm>
            <a:off x="1097280" y="2852928"/>
            <a:ext cx="3291840" cy="256032"/>
          </a:xfrm>
          <a:prstGeom prst="rect">
            <a:avLst/>
          </a:prstGeom>
          <a:noFill/>
          <a:ln/>
        </p:spPr>
        <p:txBody>
          <a:bodyPr wrap="square" lIns="0" tIns="0" rIns="0" bIns="0" rtlCol="0" anchor="ctr"/>
          <a:lstStyle/>
          <a:p>
            <a:pPr marL="0" indent="0">
              <a:buNone/>
            </a:pPr>
            <a:r>
              <a:rPr lang="en-US" sz="1100" b="1" kern="0" spc="150" dirty="0">
                <a:solidFill>
                  <a:srgbClr val="F59E0B"/>
                </a:solidFill>
                <a:latin typeface="Calibri" pitchFamily="34" charset="0"/>
                <a:ea typeface="Calibri" pitchFamily="34" charset="-122"/>
                <a:cs typeface="Calibri" pitchFamily="34" charset="-120"/>
              </a:rPr>
              <a:t>THE POSITION</a:t>
            </a:r>
            <a:endParaRPr lang="en-US" sz="1100" dirty="0"/>
          </a:p>
        </p:txBody>
      </p:sp>
      <p:sp>
        <p:nvSpPr>
          <p:cNvPr id="8" name="Text 6"/>
          <p:cNvSpPr/>
          <p:nvPr/>
        </p:nvSpPr>
        <p:spPr>
          <a:xfrm>
            <a:off x="1097280" y="3145536"/>
            <a:ext cx="3246120" cy="118110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Real trading businesses whose gaps are specific and correctable — usually an oversized ask or a few missing fields. They promise more jobs than any tier, at the best capital-to-jobs ratio in the pool. Rejecting them is the costliest option available.</a:t>
            </a:r>
            <a:endParaRPr lang="en-US" sz="1150" dirty="0"/>
          </a:p>
        </p:txBody>
      </p:sp>
      <p:sp>
        <p:nvSpPr>
          <p:cNvPr id="9" name="Text 7"/>
          <p:cNvSpPr/>
          <p:nvPr/>
        </p:nvSpPr>
        <p:spPr>
          <a:xfrm>
            <a:off x="1097280" y="4546092"/>
            <a:ext cx="1920240" cy="310896"/>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Capital sought</a:t>
            </a:r>
            <a:endParaRPr lang="en-US" sz="1150" dirty="0"/>
          </a:p>
        </p:txBody>
      </p:sp>
      <p:sp>
        <p:nvSpPr>
          <p:cNvPr id="10" name="Text 8"/>
          <p:cNvSpPr/>
          <p:nvPr/>
        </p:nvSpPr>
        <p:spPr>
          <a:xfrm>
            <a:off x="2926080" y="4546092"/>
            <a:ext cx="1463040" cy="310896"/>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R2.66 bn</a:t>
            </a:r>
            <a:endParaRPr lang="en-US" sz="1300" dirty="0"/>
          </a:p>
        </p:txBody>
      </p:sp>
      <p:sp>
        <p:nvSpPr>
          <p:cNvPr id="11" name="Text 9"/>
          <p:cNvSpPr/>
          <p:nvPr/>
        </p:nvSpPr>
        <p:spPr>
          <a:xfrm>
            <a:off x="1097280" y="4883912"/>
            <a:ext cx="1920240" cy="310896"/>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Jobs promised</a:t>
            </a:r>
            <a:endParaRPr lang="en-US" sz="1150" dirty="0"/>
          </a:p>
        </p:txBody>
      </p:sp>
      <p:sp>
        <p:nvSpPr>
          <p:cNvPr id="12" name="Text 10"/>
          <p:cNvSpPr/>
          <p:nvPr/>
        </p:nvSpPr>
        <p:spPr>
          <a:xfrm>
            <a:off x="2926080" y="4883912"/>
            <a:ext cx="1463040" cy="310896"/>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11,751</a:t>
            </a:r>
            <a:endParaRPr lang="en-US" sz="1300" dirty="0"/>
          </a:p>
        </p:txBody>
      </p:sp>
      <p:sp>
        <p:nvSpPr>
          <p:cNvPr id="13" name="Text 11"/>
          <p:cNvSpPr/>
          <p:nvPr/>
        </p:nvSpPr>
        <p:spPr>
          <a:xfrm>
            <a:off x="1097280" y="5221732"/>
            <a:ext cx="1920240" cy="310896"/>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Cost per job</a:t>
            </a:r>
            <a:endParaRPr lang="en-US" sz="1150" dirty="0"/>
          </a:p>
        </p:txBody>
      </p:sp>
      <p:sp>
        <p:nvSpPr>
          <p:cNvPr id="14" name="Text 12"/>
          <p:cNvSpPr/>
          <p:nvPr/>
        </p:nvSpPr>
        <p:spPr>
          <a:xfrm>
            <a:off x="2926080" y="5221732"/>
            <a:ext cx="1463040" cy="310896"/>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R226k</a:t>
            </a:r>
            <a:endParaRPr lang="en-US" sz="1300" dirty="0"/>
          </a:p>
        </p:txBody>
      </p:sp>
      <p:sp>
        <p:nvSpPr>
          <p:cNvPr id="15" name="Text 13"/>
          <p:cNvSpPr/>
          <p:nvPr/>
        </p:nvSpPr>
        <p:spPr>
          <a:xfrm>
            <a:off x="1097280" y="5559552"/>
            <a:ext cx="1920240" cy="310896"/>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Avg readiness score</a:t>
            </a:r>
            <a:endParaRPr lang="en-US" sz="1150" dirty="0"/>
          </a:p>
        </p:txBody>
      </p:sp>
      <p:sp>
        <p:nvSpPr>
          <p:cNvPr id="16" name="Text 14"/>
          <p:cNvSpPr/>
          <p:nvPr/>
        </p:nvSpPr>
        <p:spPr>
          <a:xfrm>
            <a:off x="2926080" y="5559552"/>
            <a:ext cx="1463040" cy="310896"/>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55.2</a:t>
            </a:r>
            <a:endParaRPr lang="en-US" sz="1300" dirty="0"/>
          </a:p>
        </p:txBody>
      </p:sp>
      <p:sp>
        <p:nvSpPr>
          <p:cNvPr id="17" name="Text 15"/>
          <p:cNvSpPr/>
          <p:nvPr/>
        </p:nvSpPr>
        <p:spPr>
          <a:xfrm>
            <a:off x="5029200" y="1536192"/>
            <a:ext cx="6400800" cy="274320"/>
          </a:xfrm>
          <a:prstGeom prst="rect">
            <a:avLst/>
          </a:prstGeom>
          <a:noFill/>
          <a:ln/>
        </p:spPr>
        <p:txBody>
          <a:bodyPr wrap="square" lIns="0" tIns="0" rIns="0" bIns="0" rtlCol="0" anchor="ctr"/>
          <a:lstStyle/>
          <a:p>
            <a:pPr marL="0" indent="0">
              <a:buNone/>
            </a:pPr>
            <a:r>
              <a:rPr lang="en-US" sz="1100" b="1" kern="0" spc="150" dirty="0">
                <a:solidFill>
                  <a:srgbClr val="F59E0B"/>
                </a:solidFill>
                <a:latin typeface="Calibri" pitchFamily="34" charset="0"/>
                <a:ea typeface="Calibri" pitchFamily="34" charset="-122"/>
                <a:cs typeface="Calibri" pitchFamily="34" charset="-120"/>
              </a:rPr>
              <a:t>WHAT THE SME TEAM DOES</a:t>
            </a:r>
            <a:endParaRPr lang="en-US" sz="1100" dirty="0"/>
          </a:p>
        </p:txBody>
      </p:sp>
      <p:sp>
        <p:nvSpPr>
          <p:cNvPr id="18" name="Shape 16"/>
          <p:cNvSpPr/>
          <p:nvPr/>
        </p:nvSpPr>
        <p:spPr>
          <a:xfrm>
            <a:off x="5029200" y="1938528"/>
            <a:ext cx="329184" cy="329184"/>
          </a:xfrm>
          <a:prstGeom prst="ellipse">
            <a:avLst/>
          </a:prstGeom>
          <a:solidFill>
            <a:srgbClr val="F59E0B"/>
          </a:solidFill>
          <a:ln w="12700">
            <a:solidFill>
              <a:srgbClr val="333333"/>
            </a:solidFill>
            <a:prstDash val="solid"/>
          </a:ln>
        </p:spPr>
        <p:txBody>
          <a:bodyPr/>
          <a:lstStyle/>
          <a:p>
            <a:endParaRPr lang="en-US"/>
          </a:p>
        </p:txBody>
      </p:sp>
      <p:sp>
        <p:nvSpPr>
          <p:cNvPr id="19" name="Text 17"/>
          <p:cNvSpPr/>
          <p:nvPr/>
        </p:nvSpPr>
        <p:spPr>
          <a:xfrm>
            <a:off x="5029200" y="1938528"/>
            <a:ext cx="329184" cy="329184"/>
          </a:xfrm>
          <a:prstGeom prst="rect">
            <a:avLst/>
          </a:prstGeom>
          <a:noFill/>
          <a:ln/>
        </p:spPr>
        <p:txBody>
          <a:bodyPr wrap="square" lIns="0" tIns="0" rIns="0" bIns="0" rtlCol="0" anchor="ctr"/>
          <a:lstStyle/>
          <a:p>
            <a:pPr marL="0" indent="0" algn="ctr">
              <a:buNone/>
            </a:pPr>
            <a:r>
              <a:rPr lang="en-US" sz="1500" b="1" dirty="0">
                <a:solidFill>
                  <a:srgbClr val="0F1B2E"/>
                </a:solidFill>
                <a:latin typeface="Cambria" pitchFamily="34" charset="0"/>
                <a:ea typeface="Cambria" pitchFamily="34" charset="-122"/>
                <a:cs typeface="Cambria" pitchFamily="34" charset="-120"/>
              </a:rPr>
              <a:t>1</a:t>
            </a:r>
            <a:endParaRPr lang="en-US" sz="1500" dirty="0"/>
          </a:p>
        </p:txBody>
      </p:sp>
      <p:sp>
        <p:nvSpPr>
          <p:cNvPr id="20" name="Text 18"/>
          <p:cNvSpPr/>
          <p:nvPr/>
        </p:nvSpPr>
        <p:spPr>
          <a:xfrm>
            <a:off x="5504688" y="1901952"/>
            <a:ext cx="585216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Run it as a programme, not a queue</a:t>
            </a:r>
            <a:endParaRPr lang="en-US" sz="1400" dirty="0"/>
          </a:p>
        </p:txBody>
      </p:sp>
      <p:sp>
        <p:nvSpPr>
          <p:cNvPr id="21" name="Text 19"/>
          <p:cNvSpPr/>
          <p:nvPr/>
        </p:nvSpPr>
        <p:spPr>
          <a:xfrm>
            <a:off x="5504688" y="2231136"/>
            <a:ext cx="5852160" cy="658368"/>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595 businesses cannot be worked case by case. Batch them by the gap that is holding them back — ask size, missing fields, weak growth evidence — and address each batch once.</a:t>
            </a:r>
            <a:endParaRPr lang="en-US" sz="1150" dirty="0"/>
          </a:p>
        </p:txBody>
      </p:sp>
      <p:sp>
        <p:nvSpPr>
          <p:cNvPr id="22" name="Shape 20"/>
          <p:cNvSpPr/>
          <p:nvPr/>
        </p:nvSpPr>
        <p:spPr>
          <a:xfrm>
            <a:off x="5029200" y="2980944"/>
            <a:ext cx="329184" cy="329184"/>
          </a:xfrm>
          <a:prstGeom prst="ellipse">
            <a:avLst/>
          </a:prstGeom>
          <a:solidFill>
            <a:srgbClr val="F59E0B"/>
          </a:solidFill>
          <a:ln w="12700">
            <a:solidFill>
              <a:srgbClr val="333333"/>
            </a:solidFill>
            <a:prstDash val="solid"/>
          </a:ln>
        </p:spPr>
        <p:txBody>
          <a:bodyPr/>
          <a:lstStyle/>
          <a:p>
            <a:endParaRPr lang="en-US"/>
          </a:p>
        </p:txBody>
      </p:sp>
      <p:sp>
        <p:nvSpPr>
          <p:cNvPr id="23" name="Text 21"/>
          <p:cNvSpPr/>
          <p:nvPr/>
        </p:nvSpPr>
        <p:spPr>
          <a:xfrm>
            <a:off x="5029200" y="2980944"/>
            <a:ext cx="329184" cy="329184"/>
          </a:xfrm>
          <a:prstGeom prst="rect">
            <a:avLst/>
          </a:prstGeom>
          <a:noFill/>
          <a:ln/>
        </p:spPr>
        <p:txBody>
          <a:bodyPr wrap="square" lIns="0" tIns="0" rIns="0" bIns="0" rtlCol="0" anchor="ctr"/>
          <a:lstStyle/>
          <a:p>
            <a:pPr marL="0" indent="0" algn="ctr">
              <a:buNone/>
            </a:pPr>
            <a:r>
              <a:rPr lang="en-US" sz="1500" b="1" dirty="0">
                <a:solidFill>
                  <a:srgbClr val="0F1B2E"/>
                </a:solidFill>
                <a:latin typeface="Cambria" pitchFamily="34" charset="0"/>
                <a:ea typeface="Cambria" pitchFamily="34" charset="-122"/>
                <a:cs typeface="Cambria" pitchFamily="34" charset="-120"/>
              </a:rPr>
              <a:t>2</a:t>
            </a:r>
            <a:endParaRPr lang="en-US" sz="1500" dirty="0"/>
          </a:p>
        </p:txBody>
      </p:sp>
      <p:sp>
        <p:nvSpPr>
          <p:cNvPr id="24" name="Text 22"/>
          <p:cNvSpPr/>
          <p:nvPr/>
        </p:nvSpPr>
        <p:spPr>
          <a:xfrm>
            <a:off x="5504688" y="2944368"/>
            <a:ext cx="585216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Right-size the ask first</a:t>
            </a:r>
            <a:endParaRPr lang="en-US" sz="1400" dirty="0"/>
          </a:p>
        </p:txBody>
      </p:sp>
      <p:sp>
        <p:nvSpPr>
          <p:cNvPr id="25" name="Text 23"/>
          <p:cNvSpPr/>
          <p:nvPr/>
        </p:nvSpPr>
        <p:spPr>
          <a:xfrm>
            <a:off x="5504688" y="3273552"/>
            <a:ext cx="5852160" cy="658368"/>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At 1.50× revenue the average Mid-tier ask is close to fundable. A structured conversation about a realistic figure moves a large share of this tier over the threshold with no other change.</a:t>
            </a:r>
            <a:endParaRPr lang="en-US" sz="1150" dirty="0"/>
          </a:p>
        </p:txBody>
      </p:sp>
      <p:sp>
        <p:nvSpPr>
          <p:cNvPr id="26" name="Shape 24"/>
          <p:cNvSpPr/>
          <p:nvPr/>
        </p:nvSpPr>
        <p:spPr>
          <a:xfrm>
            <a:off x="5029200" y="4023360"/>
            <a:ext cx="329184" cy="329184"/>
          </a:xfrm>
          <a:prstGeom prst="ellipse">
            <a:avLst/>
          </a:prstGeom>
          <a:solidFill>
            <a:srgbClr val="F59E0B"/>
          </a:solidFill>
          <a:ln w="12700">
            <a:solidFill>
              <a:srgbClr val="333333"/>
            </a:solidFill>
            <a:prstDash val="solid"/>
          </a:ln>
        </p:spPr>
        <p:txBody>
          <a:bodyPr/>
          <a:lstStyle/>
          <a:p>
            <a:endParaRPr lang="en-US"/>
          </a:p>
        </p:txBody>
      </p:sp>
      <p:sp>
        <p:nvSpPr>
          <p:cNvPr id="27" name="Text 25"/>
          <p:cNvSpPr/>
          <p:nvPr/>
        </p:nvSpPr>
        <p:spPr>
          <a:xfrm>
            <a:off x="5029200" y="4023360"/>
            <a:ext cx="329184" cy="329184"/>
          </a:xfrm>
          <a:prstGeom prst="rect">
            <a:avLst/>
          </a:prstGeom>
          <a:noFill/>
          <a:ln/>
        </p:spPr>
        <p:txBody>
          <a:bodyPr wrap="square" lIns="0" tIns="0" rIns="0" bIns="0" rtlCol="0" anchor="ctr"/>
          <a:lstStyle/>
          <a:p>
            <a:pPr marL="0" indent="0" algn="ctr">
              <a:buNone/>
            </a:pPr>
            <a:r>
              <a:rPr lang="en-US" sz="1500" b="1" dirty="0">
                <a:solidFill>
                  <a:srgbClr val="0F1B2E"/>
                </a:solidFill>
                <a:latin typeface="Cambria" pitchFamily="34" charset="0"/>
                <a:ea typeface="Cambria" pitchFamily="34" charset="-122"/>
                <a:cs typeface="Cambria" pitchFamily="34" charset="-120"/>
              </a:rPr>
              <a:t>3</a:t>
            </a:r>
            <a:endParaRPr lang="en-US" sz="1500" dirty="0"/>
          </a:p>
        </p:txBody>
      </p:sp>
      <p:sp>
        <p:nvSpPr>
          <p:cNvPr id="28" name="Text 26"/>
          <p:cNvSpPr/>
          <p:nvPr/>
        </p:nvSpPr>
        <p:spPr>
          <a:xfrm>
            <a:off x="5504688" y="3986784"/>
            <a:ext cx="585216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Target the 48–61 band from the top down</a:t>
            </a:r>
            <a:endParaRPr lang="en-US" sz="1400" dirty="0"/>
          </a:p>
        </p:txBody>
      </p:sp>
      <p:sp>
        <p:nvSpPr>
          <p:cNvPr id="29" name="Text 27"/>
          <p:cNvSpPr/>
          <p:nvPr/>
        </p:nvSpPr>
        <p:spPr>
          <a:xfrm>
            <a:off x="5504688" y="4315968"/>
            <a:ext cx="5852160" cy="658368"/>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Businesses scoring 58–61 need the least to reach the High tier. Work them first and re-score to book early wins.</a:t>
            </a:r>
            <a:endParaRPr lang="en-US" sz="1150" dirty="0"/>
          </a:p>
        </p:txBody>
      </p:sp>
      <p:sp>
        <p:nvSpPr>
          <p:cNvPr id="30" name="Shape 28"/>
          <p:cNvSpPr/>
          <p:nvPr/>
        </p:nvSpPr>
        <p:spPr>
          <a:xfrm>
            <a:off x="5029200" y="5065776"/>
            <a:ext cx="329184" cy="329184"/>
          </a:xfrm>
          <a:prstGeom prst="ellipse">
            <a:avLst/>
          </a:prstGeom>
          <a:solidFill>
            <a:srgbClr val="F59E0B"/>
          </a:solidFill>
          <a:ln w="12700">
            <a:solidFill>
              <a:srgbClr val="333333"/>
            </a:solidFill>
            <a:prstDash val="solid"/>
          </a:ln>
        </p:spPr>
        <p:txBody>
          <a:bodyPr/>
          <a:lstStyle/>
          <a:p>
            <a:endParaRPr lang="en-US"/>
          </a:p>
        </p:txBody>
      </p:sp>
      <p:sp>
        <p:nvSpPr>
          <p:cNvPr id="31" name="Text 29"/>
          <p:cNvSpPr/>
          <p:nvPr/>
        </p:nvSpPr>
        <p:spPr>
          <a:xfrm>
            <a:off x="5029200" y="5065776"/>
            <a:ext cx="329184" cy="329184"/>
          </a:xfrm>
          <a:prstGeom prst="rect">
            <a:avLst/>
          </a:prstGeom>
          <a:noFill/>
          <a:ln/>
        </p:spPr>
        <p:txBody>
          <a:bodyPr wrap="square" lIns="0" tIns="0" rIns="0" bIns="0" rtlCol="0" anchor="ctr"/>
          <a:lstStyle/>
          <a:p>
            <a:pPr marL="0" indent="0" algn="ctr">
              <a:buNone/>
            </a:pPr>
            <a:r>
              <a:rPr lang="en-US" sz="1500" b="1" dirty="0">
                <a:solidFill>
                  <a:srgbClr val="0F1B2E"/>
                </a:solidFill>
                <a:latin typeface="Cambria" pitchFamily="34" charset="0"/>
                <a:ea typeface="Cambria" pitchFamily="34" charset="-122"/>
                <a:cs typeface="Cambria" pitchFamily="34" charset="-120"/>
              </a:rPr>
              <a:t>4</a:t>
            </a:r>
            <a:endParaRPr lang="en-US" sz="1500" dirty="0"/>
          </a:p>
        </p:txBody>
      </p:sp>
      <p:sp>
        <p:nvSpPr>
          <p:cNvPr id="32" name="Text 30"/>
          <p:cNvSpPr/>
          <p:nvPr/>
        </p:nvSpPr>
        <p:spPr>
          <a:xfrm>
            <a:off x="5504688" y="5029200"/>
            <a:ext cx="585216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Sell it on capital efficiency</a:t>
            </a:r>
            <a:endParaRPr lang="en-US" sz="1400" dirty="0"/>
          </a:p>
        </p:txBody>
      </p:sp>
      <p:sp>
        <p:nvSpPr>
          <p:cNvPr id="33" name="Text 31"/>
          <p:cNvSpPr/>
          <p:nvPr/>
        </p:nvSpPr>
        <p:spPr>
          <a:xfrm>
            <a:off x="5504688" y="5358384"/>
            <a:ext cx="5852160" cy="658368"/>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R226k of requested capital per promised job — the best ratio in the pool. For job-mandated funders this tier is a stronger story than the High tier.</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384048"/>
            <a:ext cx="10515600" cy="292608"/>
          </a:xfrm>
          <a:prstGeom prst="rect">
            <a:avLst/>
          </a:prstGeom>
          <a:noFill/>
          <a:ln/>
        </p:spPr>
        <p:txBody>
          <a:bodyPr wrap="square" lIns="0" tIns="0" rIns="0" bIns="0" rtlCol="0" anchor="ctr"/>
          <a:lstStyle/>
          <a:p>
            <a:pPr marL="0" indent="0">
              <a:buNone/>
            </a:pPr>
            <a:r>
              <a:rPr lang="en-US" sz="1200" b="1" kern="0" spc="250" dirty="0">
                <a:solidFill>
                  <a:srgbClr val="F87171"/>
                </a:solidFill>
                <a:latin typeface="Calibri" pitchFamily="34" charset="0"/>
                <a:ea typeface="Calibri" pitchFamily="34" charset="-122"/>
                <a:cs typeface="Calibri" pitchFamily="34" charset="-120"/>
              </a:rPr>
              <a:t>ACTION — LOW TIER</a:t>
            </a:r>
            <a:endParaRPr lang="en-US" sz="1200" dirty="0"/>
          </a:p>
        </p:txBody>
      </p:sp>
      <p:sp>
        <p:nvSpPr>
          <p:cNvPr id="3" name="Text 1"/>
          <p:cNvSpPr/>
          <p:nvPr/>
        </p:nvSpPr>
        <p:spPr>
          <a:xfrm>
            <a:off x="822960" y="685800"/>
            <a:ext cx="10515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Remediate: fix the ask before anyone sees the business</a:t>
            </a:r>
            <a:endParaRPr lang="en-US" sz="3000" dirty="0"/>
          </a:p>
        </p:txBody>
      </p:sp>
      <p:sp>
        <p:nvSpPr>
          <p:cNvPr id="4" name="Shape 2"/>
          <p:cNvSpPr/>
          <p:nvPr/>
        </p:nvSpPr>
        <p:spPr>
          <a:xfrm>
            <a:off x="822960" y="1481328"/>
            <a:ext cx="3794760" cy="4572000"/>
          </a:xfrm>
          <a:prstGeom prst="roundRect">
            <a:avLst>
              <a:gd name="adj" fmla="val 1928"/>
            </a:avLst>
          </a:prstGeom>
          <a:solidFill>
            <a:srgbClr val="0F1B2E"/>
          </a:solidFill>
          <a:ln w="12700">
            <a:solidFill>
              <a:srgbClr val="334155"/>
            </a:solidFill>
            <a:prstDash val="solid"/>
          </a:ln>
        </p:spPr>
        <p:txBody>
          <a:bodyPr/>
          <a:lstStyle/>
          <a:p>
            <a:endParaRPr lang="en-US"/>
          </a:p>
        </p:txBody>
      </p:sp>
      <p:sp>
        <p:nvSpPr>
          <p:cNvPr id="5" name="Text 3"/>
          <p:cNvSpPr/>
          <p:nvPr/>
        </p:nvSpPr>
        <p:spPr>
          <a:xfrm>
            <a:off x="1097280" y="1691640"/>
            <a:ext cx="3291840" cy="777240"/>
          </a:xfrm>
          <a:prstGeom prst="rect">
            <a:avLst/>
          </a:prstGeom>
          <a:noFill/>
          <a:ln/>
        </p:spPr>
        <p:txBody>
          <a:bodyPr wrap="square" lIns="0" tIns="0" rIns="0" bIns="0" rtlCol="0" anchor="ctr"/>
          <a:lstStyle/>
          <a:p>
            <a:pPr marL="0" indent="0">
              <a:buNone/>
            </a:pPr>
            <a:r>
              <a:rPr lang="en-US" sz="4400" b="1" dirty="0">
                <a:solidFill>
                  <a:srgbClr val="F87171"/>
                </a:solidFill>
                <a:latin typeface="Cambria" pitchFamily="34" charset="0"/>
                <a:ea typeface="Cambria" pitchFamily="34" charset="-122"/>
                <a:cs typeface="Cambria" pitchFamily="34" charset="-120"/>
              </a:rPr>
              <a:t>276</a:t>
            </a:r>
            <a:endParaRPr lang="en-US" sz="4400" dirty="0"/>
          </a:p>
        </p:txBody>
      </p:sp>
      <p:sp>
        <p:nvSpPr>
          <p:cNvPr id="6" name="Text 4"/>
          <p:cNvSpPr/>
          <p:nvPr/>
        </p:nvSpPr>
        <p:spPr>
          <a:xfrm>
            <a:off x="1097280" y="2468880"/>
            <a:ext cx="3291840" cy="274320"/>
          </a:xfrm>
          <a:prstGeom prst="rect">
            <a:avLst/>
          </a:prstGeom>
          <a:noFill/>
          <a:ln/>
        </p:spPr>
        <p:txBody>
          <a:bodyPr wrap="square" lIns="0" tIns="0" rIns="0" bIns="0" rtlCol="0" anchor="ctr"/>
          <a:lstStyle/>
          <a:p>
            <a:pPr marL="0" indent="0">
              <a:buNone/>
            </a:pPr>
            <a:r>
              <a:rPr lang="en-US" sz="1250" dirty="0">
                <a:solidFill>
                  <a:srgbClr val="94A3B8"/>
                </a:solidFill>
                <a:latin typeface="Calibri" pitchFamily="34" charset="0"/>
                <a:ea typeface="Calibri" pitchFamily="34" charset="-122"/>
                <a:cs typeface="Calibri" pitchFamily="34" charset="-120"/>
              </a:rPr>
              <a:t>businesses needing remediation</a:t>
            </a:r>
            <a:endParaRPr lang="en-US" sz="1250" dirty="0"/>
          </a:p>
        </p:txBody>
      </p:sp>
      <p:sp>
        <p:nvSpPr>
          <p:cNvPr id="7" name="Text 5"/>
          <p:cNvSpPr/>
          <p:nvPr/>
        </p:nvSpPr>
        <p:spPr>
          <a:xfrm>
            <a:off x="1097280" y="2852928"/>
            <a:ext cx="3291840" cy="256032"/>
          </a:xfrm>
          <a:prstGeom prst="rect">
            <a:avLst/>
          </a:prstGeom>
          <a:noFill/>
          <a:ln/>
        </p:spPr>
        <p:txBody>
          <a:bodyPr wrap="square" lIns="0" tIns="0" rIns="0" bIns="0" rtlCol="0" anchor="ctr"/>
          <a:lstStyle/>
          <a:p>
            <a:pPr marL="0" indent="0">
              <a:buNone/>
            </a:pPr>
            <a:r>
              <a:rPr lang="en-US" sz="1100" b="1" kern="0" spc="150" dirty="0">
                <a:solidFill>
                  <a:srgbClr val="F87171"/>
                </a:solidFill>
                <a:latin typeface="Calibri" pitchFamily="34" charset="0"/>
                <a:ea typeface="Calibri" pitchFamily="34" charset="-122"/>
                <a:cs typeface="Calibri" pitchFamily="34" charset="-120"/>
              </a:rPr>
              <a:t>THE POSITION</a:t>
            </a:r>
            <a:endParaRPr lang="en-US" sz="1100" dirty="0"/>
          </a:p>
        </p:txBody>
      </p:sp>
      <p:sp>
        <p:nvSpPr>
          <p:cNvPr id="8" name="Text 6"/>
          <p:cNvSpPr/>
          <p:nvPr/>
        </p:nvSpPr>
        <p:spPr>
          <a:xfrm>
            <a:off x="1097280" y="3145536"/>
            <a:ext cx="3246120" cy="1181100"/>
          </a:xfrm>
          <a:prstGeom prst="rect">
            <a:avLst/>
          </a:prstGeom>
          <a:noFill/>
          <a:ln/>
        </p:spPr>
        <p:txBody>
          <a:bodyPr wrap="square" lIns="0" tIns="0" rIns="0" bIns="0" rtlCol="0" anchor="t"/>
          <a:lstStyle/>
          <a:p>
            <a:pPr marL="0" indent="0">
              <a:lnSpc>
                <a:spcPts val="1550"/>
              </a:lnSpc>
              <a:buNone/>
            </a:pPr>
            <a:r>
              <a:rPr lang="en-US" sz="1150" dirty="0">
                <a:solidFill>
                  <a:srgbClr val="CBD5E1"/>
                </a:solidFill>
                <a:latin typeface="Calibri" pitchFamily="34" charset="0"/>
                <a:ea typeface="Calibri" pitchFamily="34" charset="-122"/>
                <a:cs typeface="Calibri" pitchFamily="34" charset="-120"/>
              </a:rPr>
              <a:t>Two fixable problems, not two hundred: asks wildly out of proportion to trading history, and materially incomplete applications. Transformation credentials stay strong and youth ownership is the highest in the pool. These are young businesses, not bad ones.</a:t>
            </a:r>
            <a:endParaRPr lang="en-US" sz="1150" dirty="0"/>
          </a:p>
        </p:txBody>
      </p:sp>
      <p:sp>
        <p:nvSpPr>
          <p:cNvPr id="9" name="Text 7"/>
          <p:cNvSpPr/>
          <p:nvPr/>
        </p:nvSpPr>
        <p:spPr>
          <a:xfrm>
            <a:off x="1097280" y="4546092"/>
            <a:ext cx="1920240" cy="310896"/>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Capital sought</a:t>
            </a:r>
            <a:endParaRPr lang="en-US" sz="1150" dirty="0"/>
          </a:p>
        </p:txBody>
      </p:sp>
      <p:sp>
        <p:nvSpPr>
          <p:cNvPr id="10" name="Text 8"/>
          <p:cNvSpPr/>
          <p:nvPr/>
        </p:nvSpPr>
        <p:spPr>
          <a:xfrm>
            <a:off x="2926080" y="4546092"/>
            <a:ext cx="1463040" cy="310896"/>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R4.40 bn</a:t>
            </a:r>
            <a:endParaRPr lang="en-US" sz="1300" dirty="0"/>
          </a:p>
        </p:txBody>
      </p:sp>
      <p:sp>
        <p:nvSpPr>
          <p:cNvPr id="11" name="Text 9"/>
          <p:cNvSpPr/>
          <p:nvPr/>
        </p:nvSpPr>
        <p:spPr>
          <a:xfrm>
            <a:off x="1097280" y="4883912"/>
            <a:ext cx="1920240" cy="310896"/>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Revenue generated</a:t>
            </a:r>
            <a:endParaRPr lang="en-US" sz="1150" dirty="0"/>
          </a:p>
        </p:txBody>
      </p:sp>
      <p:sp>
        <p:nvSpPr>
          <p:cNvPr id="12" name="Text 10"/>
          <p:cNvSpPr/>
          <p:nvPr/>
        </p:nvSpPr>
        <p:spPr>
          <a:xfrm>
            <a:off x="2926080" y="4883912"/>
            <a:ext cx="1463040" cy="310896"/>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R1.80 bn</a:t>
            </a:r>
            <a:endParaRPr lang="en-US" sz="1300" dirty="0"/>
          </a:p>
        </p:txBody>
      </p:sp>
      <p:sp>
        <p:nvSpPr>
          <p:cNvPr id="13" name="Text 11"/>
          <p:cNvSpPr/>
          <p:nvPr/>
        </p:nvSpPr>
        <p:spPr>
          <a:xfrm>
            <a:off x="1097280" y="5221732"/>
            <a:ext cx="1920240" cy="310896"/>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Ask-to-revenue</a:t>
            </a:r>
            <a:endParaRPr lang="en-US" sz="1150" dirty="0"/>
          </a:p>
        </p:txBody>
      </p:sp>
      <p:sp>
        <p:nvSpPr>
          <p:cNvPr id="14" name="Text 12"/>
          <p:cNvSpPr/>
          <p:nvPr/>
        </p:nvSpPr>
        <p:spPr>
          <a:xfrm>
            <a:off x="2926080" y="5221732"/>
            <a:ext cx="1463040" cy="310896"/>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2.44×</a:t>
            </a:r>
            <a:endParaRPr lang="en-US" sz="1300" dirty="0"/>
          </a:p>
        </p:txBody>
      </p:sp>
      <p:sp>
        <p:nvSpPr>
          <p:cNvPr id="15" name="Text 13"/>
          <p:cNvSpPr/>
          <p:nvPr/>
        </p:nvSpPr>
        <p:spPr>
          <a:xfrm>
            <a:off x="1097280" y="5559552"/>
            <a:ext cx="1920240" cy="310896"/>
          </a:xfrm>
          <a:prstGeom prst="rect">
            <a:avLst/>
          </a:prstGeom>
          <a:noFill/>
          <a:ln/>
        </p:spPr>
        <p:txBody>
          <a:bodyPr wrap="square" lIns="0" tIns="0" rIns="0" bIns="0" rtlCol="0" anchor="ctr"/>
          <a:lstStyle/>
          <a:p>
            <a:pPr marL="0" indent="0">
              <a:buNone/>
            </a:pPr>
            <a:r>
              <a:rPr lang="en-US" sz="1150" dirty="0">
                <a:solidFill>
                  <a:srgbClr val="94A3B8"/>
                </a:solidFill>
                <a:latin typeface="Calibri" pitchFamily="34" charset="0"/>
                <a:ea typeface="Calibri" pitchFamily="34" charset="-122"/>
                <a:cs typeface="Calibri" pitchFamily="34" charset="-120"/>
              </a:rPr>
              <a:t>Share of total ask</a:t>
            </a:r>
            <a:endParaRPr lang="en-US" sz="1150" dirty="0"/>
          </a:p>
        </p:txBody>
      </p:sp>
      <p:sp>
        <p:nvSpPr>
          <p:cNvPr id="16" name="Text 14"/>
          <p:cNvSpPr/>
          <p:nvPr/>
        </p:nvSpPr>
        <p:spPr>
          <a:xfrm>
            <a:off x="2926080" y="5559552"/>
            <a:ext cx="1463040" cy="310896"/>
          </a:xfrm>
          <a:prstGeom prst="rect">
            <a:avLst/>
          </a:prstGeom>
          <a:noFill/>
          <a:ln/>
        </p:spPr>
        <p:txBody>
          <a:bodyPr wrap="square" lIns="0" tIns="0" rIns="0" bIns="0" rtlCol="0" anchor="ctr"/>
          <a:lstStyle/>
          <a:p>
            <a:pPr marL="0" indent="0" algn="r">
              <a:buNone/>
            </a:pPr>
            <a:r>
              <a:rPr lang="en-US" sz="1300" b="1" dirty="0">
                <a:solidFill>
                  <a:srgbClr val="FFFFFF"/>
                </a:solidFill>
                <a:latin typeface="Calibri" pitchFamily="34" charset="0"/>
                <a:ea typeface="Calibri" pitchFamily="34" charset="-122"/>
                <a:cs typeface="Calibri" pitchFamily="34" charset="-120"/>
              </a:rPr>
              <a:t>42.7%</a:t>
            </a:r>
            <a:endParaRPr lang="en-US" sz="1300" dirty="0"/>
          </a:p>
        </p:txBody>
      </p:sp>
      <p:sp>
        <p:nvSpPr>
          <p:cNvPr id="17" name="Text 15"/>
          <p:cNvSpPr/>
          <p:nvPr/>
        </p:nvSpPr>
        <p:spPr>
          <a:xfrm>
            <a:off x="5029200" y="1536192"/>
            <a:ext cx="6400800" cy="274320"/>
          </a:xfrm>
          <a:prstGeom prst="rect">
            <a:avLst/>
          </a:prstGeom>
          <a:noFill/>
          <a:ln/>
        </p:spPr>
        <p:txBody>
          <a:bodyPr wrap="square" lIns="0" tIns="0" rIns="0" bIns="0" rtlCol="0" anchor="ctr"/>
          <a:lstStyle/>
          <a:p>
            <a:pPr marL="0" indent="0">
              <a:buNone/>
            </a:pPr>
            <a:r>
              <a:rPr lang="en-US" sz="1100" b="1" kern="0" spc="150" dirty="0">
                <a:solidFill>
                  <a:srgbClr val="F87171"/>
                </a:solidFill>
                <a:latin typeface="Calibri" pitchFamily="34" charset="0"/>
                <a:ea typeface="Calibri" pitchFamily="34" charset="-122"/>
                <a:cs typeface="Calibri" pitchFamily="34" charset="-120"/>
              </a:rPr>
              <a:t>WHAT THE SME TEAM DOES</a:t>
            </a:r>
            <a:endParaRPr lang="en-US" sz="1100" dirty="0"/>
          </a:p>
        </p:txBody>
      </p:sp>
      <p:sp>
        <p:nvSpPr>
          <p:cNvPr id="18" name="Shape 16"/>
          <p:cNvSpPr/>
          <p:nvPr/>
        </p:nvSpPr>
        <p:spPr>
          <a:xfrm>
            <a:off x="5029200" y="1938528"/>
            <a:ext cx="329184" cy="329184"/>
          </a:xfrm>
          <a:prstGeom prst="ellipse">
            <a:avLst/>
          </a:prstGeom>
          <a:solidFill>
            <a:srgbClr val="F87171"/>
          </a:solidFill>
          <a:ln w="12700">
            <a:solidFill>
              <a:srgbClr val="333333"/>
            </a:solidFill>
            <a:prstDash val="solid"/>
          </a:ln>
        </p:spPr>
        <p:txBody>
          <a:bodyPr/>
          <a:lstStyle/>
          <a:p>
            <a:endParaRPr lang="en-US"/>
          </a:p>
        </p:txBody>
      </p:sp>
      <p:sp>
        <p:nvSpPr>
          <p:cNvPr id="19" name="Text 17"/>
          <p:cNvSpPr/>
          <p:nvPr/>
        </p:nvSpPr>
        <p:spPr>
          <a:xfrm>
            <a:off x="5029200" y="1938528"/>
            <a:ext cx="329184" cy="329184"/>
          </a:xfrm>
          <a:prstGeom prst="rect">
            <a:avLst/>
          </a:prstGeom>
          <a:noFill/>
          <a:ln/>
        </p:spPr>
        <p:txBody>
          <a:bodyPr wrap="square" lIns="0" tIns="0" rIns="0" bIns="0" rtlCol="0" anchor="ctr"/>
          <a:lstStyle/>
          <a:p>
            <a:pPr marL="0" indent="0" algn="ctr">
              <a:buNone/>
            </a:pPr>
            <a:r>
              <a:rPr lang="en-US" sz="1500" b="1" dirty="0">
                <a:solidFill>
                  <a:srgbClr val="0F1B2E"/>
                </a:solidFill>
                <a:latin typeface="Cambria" pitchFamily="34" charset="0"/>
                <a:ea typeface="Cambria" pitchFamily="34" charset="-122"/>
                <a:cs typeface="Cambria" pitchFamily="34" charset="-120"/>
              </a:rPr>
              <a:t>1</a:t>
            </a:r>
            <a:endParaRPr lang="en-US" sz="1500" dirty="0"/>
          </a:p>
        </p:txBody>
      </p:sp>
      <p:sp>
        <p:nvSpPr>
          <p:cNvPr id="20" name="Text 18"/>
          <p:cNvSpPr/>
          <p:nvPr/>
        </p:nvSpPr>
        <p:spPr>
          <a:xfrm>
            <a:off x="5504688" y="1901952"/>
            <a:ext cx="585216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Do not introduce them yet</a:t>
            </a:r>
            <a:endParaRPr lang="en-US" sz="1400" dirty="0"/>
          </a:p>
        </p:txBody>
      </p:sp>
      <p:sp>
        <p:nvSpPr>
          <p:cNvPr id="21" name="Text 19"/>
          <p:cNvSpPr/>
          <p:nvPr/>
        </p:nvSpPr>
        <p:spPr>
          <a:xfrm>
            <a:off x="5504688" y="2231136"/>
            <a:ext cx="5852160" cy="658368"/>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A 2.44× ask that a funder declines costs the initiative credibility it will need for the next introduction. Remediation is protective, not punitive.</a:t>
            </a:r>
            <a:endParaRPr lang="en-US" sz="1150" dirty="0"/>
          </a:p>
        </p:txBody>
      </p:sp>
      <p:sp>
        <p:nvSpPr>
          <p:cNvPr id="22" name="Shape 20"/>
          <p:cNvSpPr/>
          <p:nvPr/>
        </p:nvSpPr>
        <p:spPr>
          <a:xfrm>
            <a:off x="5029200" y="2980944"/>
            <a:ext cx="329184" cy="329184"/>
          </a:xfrm>
          <a:prstGeom prst="ellipse">
            <a:avLst/>
          </a:prstGeom>
          <a:solidFill>
            <a:srgbClr val="F87171"/>
          </a:solidFill>
          <a:ln w="12700">
            <a:solidFill>
              <a:srgbClr val="333333"/>
            </a:solidFill>
            <a:prstDash val="solid"/>
          </a:ln>
        </p:spPr>
        <p:txBody>
          <a:bodyPr/>
          <a:lstStyle/>
          <a:p>
            <a:endParaRPr lang="en-US"/>
          </a:p>
        </p:txBody>
      </p:sp>
      <p:sp>
        <p:nvSpPr>
          <p:cNvPr id="23" name="Text 21"/>
          <p:cNvSpPr/>
          <p:nvPr/>
        </p:nvSpPr>
        <p:spPr>
          <a:xfrm>
            <a:off x="5029200" y="2980944"/>
            <a:ext cx="329184" cy="329184"/>
          </a:xfrm>
          <a:prstGeom prst="rect">
            <a:avLst/>
          </a:prstGeom>
          <a:noFill/>
          <a:ln/>
        </p:spPr>
        <p:txBody>
          <a:bodyPr wrap="square" lIns="0" tIns="0" rIns="0" bIns="0" rtlCol="0" anchor="ctr"/>
          <a:lstStyle/>
          <a:p>
            <a:pPr marL="0" indent="0" algn="ctr">
              <a:buNone/>
            </a:pPr>
            <a:r>
              <a:rPr lang="en-US" sz="1500" b="1" dirty="0">
                <a:solidFill>
                  <a:srgbClr val="0F1B2E"/>
                </a:solidFill>
                <a:latin typeface="Cambria" pitchFamily="34" charset="0"/>
                <a:ea typeface="Cambria" pitchFamily="34" charset="-122"/>
                <a:cs typeface="Cambria" pitchFamily="34" charset="-120"/>
              </a:rPr>
              <a:t>2</a:t>
            </a:r>
            <a:endParaRPr lang="en-US" sz="1500" dirty="0"/>
          </a:p>
        </p:txBody>
      </p:sp>
      <p:sp>
        <p:nvSpPr>
          <p:cNvPr id="24" name="Text 22"/>
          <p:cNvSpPr/>
          <p:nvPr/>
        </p:nvSpPr>
        <p:spPr>
          <a:xfrm>
            <a:off x="5504688" y="2944368"/>
            <a:ext cx="585216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Complete the data before anything else</a:t>
            </a:r>
            <a:endParaRPr lang="en-US" sz="1400" dirty="0"/>
          </a:p>
        </p:txBody>
      </p:sp>
      <p:sp>
        <p:nvSpPr>
          <p:cNvPr id="25" name="Text 23"/>
          <p:cNvSpPr/>
          <p:nvPr/>
        </p:nvSpPr>
        <p:spPr>
          <a:xfrm>
            <a:off x="5504688" y="3273552"/>
            <a:ext cx="5852160" cy="658368"/>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Much of the low score reflects missing fields rather than weak businesses. Direct engagement to fill the gaps will move some of this tier on data alone.</a:t>
            </a:r>
            <a:endParaRPr lang="en-US" sz="1150" dirty="0"/>
          </a:p>
        </p:txBody>
      </p:sp>
      <p:sp>
        <p:nvSpPr>
          <p:cNvPr id="26" name="Shape 24"/>
          <p:cNvSpPr/>
          <p:nvPr/>
        </p:nvSpPr>
        <p:spPr>
          <a:xfrm>
            <a:off x="5029200" y="4023360"/>
            <a:ext cx="329184" cy="329184"/>
          </a:xfrm>
          <a:prstGeom prst="ellipse">
            <a:avLst/>
          </a:prstGeom>
          <a:solidFill>
            <a:srgbClr val="F87171"/>
          </a:solidFill>
          <a:ln w="12700">
            <a:solidFill>
              <a:srgbClr val="333333"/>
            </a:solidFill>
            <a:prstDash val="solid"/>
          </a:ln>
        </p:spPr>
        <p:txBody>
          <a:bodyPr/>
          <a:lstStyle/>
          <a:p>
            <a:endParaRPr lang="en-US"/>
          </a:p>
        </p:txBody>
      </p:sp>
      <p:sp>
        <p:nvSpPr>
          <p:cNvPr id="27" name="Text 25"/>
          <p:cNvSpPr/>
          <p:nvPr/>
        </p:nvSpPr>
        <p:spPr>
          <a:xfrm>
            <a:off x="5029200" y="4023360"/>
            <a:ext cx="329184" cy="329184"/>
          </a:xfrm>
          <a:prstGeom prst="rect">
            <a:avLst/>
          </a:prstGeom>
          <a:noFill/>
          <a:ln/>
        </p:spPr>
        <p:txBody>
          <a:bodyPr wrap="square" lIns="0" tIns="0" rIns="0" bIns="0" rtlCol="0" anchor="ctr"/>
          <a:lstStyle/>
          <a:p>
            <a:pPr marL="0" indent="0" algn="ctr">
              <a:buNone/>
            </a:pPr>
            <a:r>
              <a:rPr lang="en-US" sz="1500" b="1" dirty="0">
                <a:solidFill>
                  <a:srgbClr val="0F1B2E"/>
                </a:solidFill>
                <a:latin typeface="Cambria" pitchFamily="34" charset="0"/>
                <a:ea typeface="Cambria" pitchFamily="34" charset="-122"/>
                <a:cs typeface="Cambria" pitchFamily="34" charset="-120"/>
              </a:rPr>
              <a:t>3</a:t>
            </a:r>
            <a:endParaRPr lang="en-US" sz="1500" dirty="0"/>
          </a:p>
        </p:txBody>
      </p:sp>
      <p:sp>
        <p:nvSpPr>
          <p:cNvPr id="28" name="Text 26"/>
          <p:cNvSpPr/>
          <p:nvPr/>
        </p:nvSpPr>
        <p:spPr>
          <a:xfrm>
            <a:off x="5504688" y="3986784"/>
            <a:ext cx="585216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Recalibrate every ask, then re-score</a:t>
            </a:r>
            <a:endParaRPr lang="en-US" sz="1400" dirty="0"/>
          </a:p>
        </p:txBody>
      </p:sp>
      <p:sp>
        <p:nvSpPr>
          <p:cNvPr id="29" name="Text 27"/>
          <p:cNvSpPr/>
          <p:nvPr/>
        </p:nvSpPr>
        <p:spPr>
          <a:xfrm>
            <a:off x="5504688" y="4315968"/>
            <a:ext cx="5852160" cy="658368"/>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This tier requests R15.9m per business — more than the High tier — on a quarter of the revenue. Right-sizing is the single highest-leverage intervention available anywhere in the pipeline.</a:t>
            </a:r>
            <a:endParaRPr lang="en-US" sz="1150" dirty="0"/>
          </a:p>
        </p:txBody>
      </p:sp>
      <p:sp>
        <p:nvSpPr>
          <p:cNvPr id="30" name="Shape 28"/>
          <p:cNvSpPr/>
          <p:nvPr/>
        </p:nvSpPr>
        <p:spPr>
          <a:xfrm>
            <a:off x="5029200" y="5065776"/>
            <a:ext cx="329184" cy="329184"/>
          </a:xfrm>
          <a:prstGeom prst="ellipse">
            <a:avLst/>
          </a:prstGeom>
          <a:solidFill>
            <a:srgbClr val="F87171"/>
          </a:solidFill>
          <a:ln w="12700">
            <a:solidFill>
              <a:srgbClr val="333333"/>
            </a:solidFill>
            <a:prstDash val="solid"/>
          </a:ln>
        </p:spPr>
        <p:txBody>
          <a:bodyPr/>
          <a:lstStyle/>
          <a:p>
            <a:endParaRPr lang="en-US"/>
          </a:p>
        </p:txBody>
      </p:sp>
      <p:sp>
        <p:nvSpPr>
          <p:cNvPr id="31" name="Text 29"/>
          <p:cNvSpPr/>
          <p:nvPr/>
        </p:nvSpPr>
        <p:spPr>
          <a:xfrm>
            <a:off x="5029200" y="5065776"/>
            <a:ext cx="329184" cy="329184"/>
          </a:xfrm>
          <a:prstGeom prst="rect">
            <a:avLst/>
          </a:prstGeom>
          <a:noFill/>
          <a:ln/>
        </p:spPr>
        <p:txBody>
          <a:bodyPr wrap="square" lIns="0" tIns="0" rIns="0" bIns="0" rtlCol="0" anchor="ctr"/>
          <a:lstStyle/>
          <a:p>
            <a:pPr marL="0" indent="0" algn="ctr">
              <a:buNone/>
            </a:pPr>
            <a:r>
              <a:rPr lang="en-US" sz="1500" b="1" dirty="0">
                <a:solidFill>
                  <a:srgbClr val="0F1B2E"/>
                </a:solidFill>
                <a:latin typeface="Cambria" pitchFamily="34" charset="0"/>
                <a:ea typeface="Cambria" pitchFamily="34" charset="-122"/>
                <a:cs typeface="Cambria" pitchFamily="34" charset="-120"/>
              </a:rPr>
              <a:t>4</a:t>
            </a:r>
            <a:endParaRPr lang="en-US" sz="1500" dirty="0"/>
          </a:p>
        </p:txBody>
      </p:sp>
      <p:sp>
        <p:nvSpPr>
          <p:cNvPr id="32" name="Text 30"/>
          <p:cNvSpPr/>
          <p:nvPr/>
        </p:nvSpPr>
        <p:spPr>
          <a:xfrm>
            <a:off x="5504688" y="5029200"/>
            <a:ext cx="585216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Hold them for the next round</a:t>
            </a:r>
            <a:endParaRPr lang="en-US" sz="1400" dirty="0"/>
          </a:p>
        </p:txBody>
      </p:sp>
      <p:sp>
        <p:nvSpPr>
          <p:cNvPr id="33" name="Text 31"/>
          <p:cNvSpPr/>
          <p:nvPr/>
        </p:nvSpPr>
        <p:spPr>
          <a:xfrm>
            <a:off x="5504688" y="5358384"/>
            <a:ext cx="5852160" cy="658368"/>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Re-scoring after support turns the model into a progress tracker. A business that moves Low to Mid between rounds is a measurable programme outcome.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384048"/>
            <a:ext cx="10515600" cy="292608"/>
          </a:xfrm>
          <a:prstGeom prst="rect">
            <a:avLst/>
          </a:prstGeom>
          <a:noFill/>
          <a:ln/>
        </p:spPr>
        <p:txBody>
          <a:bodyPr wrap="square" lIns="0" tIns="0" rIns="0" bIns="0" rtlCol="0" anchor="ctr"/>
          <a:lstStyle/>
          <a:p>
            <a:pPr marL="0" indent="0">
              <a:buNone/>
            </a:pPr>
            <a:r>
              <a:rPr lang="en-US" sz="1200" b="1" kern="0" spc="250" dirty="0">
                <a:solidFill>
                  <a:srgbClr val="2DD4BF"/>
                </a:solidFill>
                <a:latin typeface="Calibri" pitchFamily="34" charset="0"/>
                <a:ea typeface="Calibri" pitchFamily="34" charset="-122"/>
                <a:cs typeface="Calibri" pitchFamily="34" charset="-120"/>
              </a:rPr>
              <a:t>ACTION — NEXT CAMPAIGN ROUND</a:t>
            </a:r>
            <a:endParaRPr lang="en-US" sz="1200" dirty="0"/>
          </a:p>
        </p:txBody>
      </p:sp>
      <p:sp>
        <p:nvSpPr>
          <p:cNvPr id="3" name="Text 1"/>
          <p:cNvSpPr/>
          <p:nvPr/>
        </p:nvSpPr>
        <p:spPr>
          <a:xfrm>
            <a:off x="822960" y="685800"/>
            <a:ext cx="105156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Run the next round differently: timing and geography</a:t>
            </a:r>
            <a:endParaRPr lang="en-US" sz="3000" dirty="0"/>
          </a:p>
        </p:txBody>
      </p:sp>
      <p:sp>
        <p:nvSpPr>
          <p:cNvPr id="4" name="Text 2"/>
          <p:cNvSpPr/>
          <p:nvPr/>
        </p:nvSpPr>
        <p:spPr>
          <a:xfrm>
            <a:off x="822960" y="1298448"/>
            <a:ext cx="10515600" cy="365760"/>
          </a:xfrm>
          <a:prstGeom prst="rect">
            <a:avLst/>
          </a:prstGeom>
          <a:noFill/>
          <a:ln/>
        </p:spPr>
        <p:txBody>
          <a:bodyPr wrap="square" lIns="0" tIns="0" rIns="0" bIns="0" rtlCol="0" anchor="ctr"/>
          <a:lstStyle/>
          <a:p>
            <a:pPr marL="0" indent="0">
              <a:buNone/>
            </a:pPr>
            <a:r>
              <a:rPr lang="en-US" sz="1400" dirty="0">
                <a:solidFill>
                  <a:srgbClr val="94A3B8"/>
                </a:solidFill>
                <a:latin typeface="Calibri" pitchFamily="34" charset="0"/>
                <a:ea typeface="Calibri" pitchFamily="34" charset="-122"/>
                <a:cs typeface="Calibri" pitchFamily="34" charset="-120"/>
              </a:rPr>
              <a:t>Two structural findings change how the campaign itself should be operated, independent of any individual business.</a:t>
            </a:r>
            <a:endParaRPr lang="en-US" sz="1400" dirty="0"/>
          </a:p>
        </p:txBody>
      </p:sp>
      <p:sp>
        <p:nvSpPr>
          <p:cNvPr id="5" name="Shape 3"/>
          <p:cNvSpPr/>
          <p:nvPr/>
        </p:nvSpPr>
        <p:spPr>
          <a:xfrm>
            <a:off x="822960" y="1828800"/>
            <a:ext cx="5074920" cy="4206240"/>
          </a:xfrm>
          <a:prstGeom prst="roundRect">
            <a:avLst>
              <a:gd name="adj" fmla="val 1739"/>
            </a:avLst>
          </a:prstGeom>
          <a:solidFill>
            <a:srgbClr val="0F1B2E"/>
          </a:solidFill>
          <a:ln w="12700">
            <a:solidFill>
              <a:srgbClr val="334155"/>
            </a:solidFill>
            <a:prstDash val="solid"/>
          </a:ln>
        </p:spPr>
        <p:txBody>
          <a:bodyPr/>
          <a:lstStyle/>
          <a:p>
            <a:endParaRPr lang="en-US"/>
          </a:p>
        </p:txBody>
      </p:sp>
      <p:sp>
        <p:nvSpPr>
          <p:cNvPr id="6" name="Text 4"/>
          <p:cNvSpPr/>
          <p:nvPr/>
        </p:nvSpPr>
        <p:spPr>
          <a:xfrm>
            <a:off x="1143000" y="2057400"/>
            <a:ext cx="4389120" cy="256032"/>
          </a:xfrm>
          <a:prstGeom prst="rect">
            <a:avLst/>
          </a:prstGeom>
          <a:noFill/>
          <a:ln/>
        </p:spPr>
        <p:txBody>
          <a:bodyPr wrap="square" lIns="0" tIns="0" rIns="0" bIns="0" rtlCol="0" anchor="ctr"/>
          <a:lstStyle/>
          <a:p>
            <a:pPr marL="0" indent="0">
              <a:buNone/>
            </a:pPr>
            <a:r>
              <a:rPr lang="en-US" sz="1100" b="1" kern="0" spc="150" dirty="0">
                <a:solidFill>
                  <a:srgbClr val="2DD4BF"/>
                </a:solidFill>
                <a:latin typeface="Calibri" pitchFamily="34" charset="0"/>
                <a:ea typeface="Calibri" pitchFamily="34" charset="-122"/>
                <a:cs typeface="Calibri" pitchFamily="34" charset="-120"/>
              </a:rPr>
              <a:t>TIMING</a:t>
            </a:r>
            <a:endParaRPr lang="en-US" sz="1100" dirty="0"/>
          </a:p>
        </p:txBody>
      </p:sp>
      <p:sp>
        <p:nvSpPr>
          <p:cNvPr id="7" name="Text 5"/>
          <p:cNvSpPr/>
          <p:nvPr/>
        </p:nvSpPr>
        <p:spPr>
          <a:xfrm>
            <a:off x="1143000" y="2340864"/>
            <a:ext cx="443484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Quality arrives all year — match as you go</a:t>
            </a:r>
            <a:endParaRPr lang="en-US" sz="1800" dirty="0"/>
          </a:p>
        </p:txBody>
      </p:sp>
      <p:sp>
        <p:nvSpPr>
          <p:cNvPr id="8" name="Shape 6"/>
          <p:cNvSpPr/>
          <p:nvPr/>
        </p:nvSpPr>
        <p:spPr>
          <a:xfrm>
            <a:off x="1143000" y="3072384"/>
            <a:ext cx="109728" cy="109728"/>
          </a:xfrm>
          <a:prstGeom prst="ellipse">
            <a:avLst/>
          </a:prstGeom>
          <a:solidFill>
            <a:srgbClr val="2DD4BF"/>
          </a:solidFill>
          <a:ln w="12700">
            <a:solidFill>
              <a:srgbClr val="333333"/>
            </a:solidFill>
            <a:prstDash val="solid"/>
          </a:ln>
        </p:spPr>
        <p:txBody>
          <a:bodyPr/>
          <a:lstStyle/>
          <a:p>
            <a:endParaRPr lang="en-US"/>
          </a:p>
        </p:txBody>
      </p:sp>
      <p:sp>
        <p:nvSpPr>
          <p:cNvPr id="9" name="Text 7"/>
          <p:cNvSpPr/>
          <p:nvPr/>
        </p:nvSpPr>
        <p:spPr>
          <a:xfrm>
            <a:off x="1371600" y="2980944"/>
            <a:ext cx="4206240" cy="713232"/>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High-tier businesses applied in all fourteen months. Two thirds of them — 161 of 245 — arrived from September 2025 onward, not in the opening quarter.</a:t>
            </a:r>
            <a:endParaRPr lang="en-US" sz="1150" dirty="0"/>
          </a:p>
        </p:txBody>
      </p:sp>
      <p:sp>
        <p:nvSpPr>
          <p:cNvPr id="10" name="Shape 8"/>
          <p:cNvSpPr/>
          <p:nvPr/>
        </p:nvSpPr>
        <p:spPr>
          <a:xfrm>
            <a:off x="1143000" y="3831336"/>
            <a:ext cx="109728" cy="109728"/>
          </a:xfrm>
          <a:prstGeom prst="ellipse">
            <a:avLst/>
          </a:prstGeom>
          <a:solidFill>
            <a:srgbClr val="2DD4BF"/>
          </a:solidFill>
          <a:ln w="12700">
            <a:solidFill>
              <a:srgbClr val="333333"/>
            </a:solidFill>
            <a:prstDash val="solid"/>
          </a:ln>
        </p:spPr>
        <p:txBody>
          <a:bodyPr/>
          <a:lstStyle/>
          <a:p>
            <a:endParaRPr lang="en-US"/>
          </a:p>
        </p:txBody>
      </p:sp>
      <p:sp>
        <p:nvSpPr>
          <p:cNvPr id="11" name="Text 9"/>
          <p:cNvSpPr/>
          <p:nvPr/>
        </p:nvSpPr>
        <p:spPr>
          <a:xfrm>
            <a:off x="1371600" y="3739896"/>
            <a:ext cx="4206240" cy="713232"/>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Begin matching while applications are still open. Investor-ready businesses arrive every month, so waiting for the close holds up the majority of them.</a:t>
            </a:r>
            <a:endParaRPr lang="en-US" sz="1150" dirty="0"/>
          </a:p>
        </p:txBody>
      </p:sp>
      <p:sp>
        <p:nvSpPr>
          <p:cNvPr id="12" name="Shape 10"/>
          <p:cNvSpPr/>
          <p:nvPr/>
        </p:nvSpPr>
        <p:spPr>
          <a:xfrm>
            <a:off x="1143000" y="4590288"/>
            <a:ext cx="109728" cy="109728"/>
          </a:xfrm>
          <a:prstGeom prst="ellipse">
            <a:avLst/>
          </a:prstGeom>
          <a:solidFill>
            <a:srgbClr val="2DD4BF"/>
          </a:solidFill>
          <a:ln w="12700">
            <a:solidFill>
              <a:srgbClr val="333333"/>
            </a:solidFill>
            <a:prstDash val="solid"/>
          </a:ln>
        </p:spPr>
        <p:txBody>
          <a:bodyPr/>
          <a:lstStyle/>
          <a:p>
            <a:endParaRPr lang="en-US"/>
          </a:p>
        </p:txBody>
      </p:sp>
      <p:sp>
        <p:nvSpPr>
          <p:cNvPr id="13" name="Text 11"/>
          <p:cNvSpPr/>
          <p:nvPr/>
        </p:nvSpPr>
        <p:spPr>
          <a:xfrm>
            <a:off x="1371600" y="4498848"/>
            <a:ext cx="4206240" cy="713232"/>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The High tier holds a steady 17–28% share of monthly volume. Total applications, not timing, decide how many investor-ready businesses a round yields.</a:t>
            </a:r>
            <a:endParaRPr lang="en-US" sz="1150" dirty="0"/>
          </a:p>
        </p:txBody>
      </p:sp>
      <p:sp>
        <p:nvSpPr>
          <p:cNvPr id="14" name="Shape 12"/>
          <p:cNvSpPr/>
          <p:nvPr/>
        </p:nvSpPr>
        <p:spPr>
          <a:xfrm>
            <a:off x="1143000" y="5349240"/>
            <a:ext cx="109728" cy="109728"/>
          </a:xfrm>
          <a:prstGeom prst="ellipse">
            <a:avLst/>
          </a:prstGeom>
          <a:solidFill>
            <a:srgbClr val="2DD4BF"/>
          </a:solidFill>
          <a:ln w="12700">
            <a:solidFill>
              <a:srgbClr val="333333"/>
            </a:solidFill>
            <a:prstDash val="solid"/>
          </a:ln>
        </p:spPr>
        <p:txBody>
          <a:bodyPr/>
          <a:lstStyle/>
          <a:p>
            <a:endParaRPr lang="en-US"/>
          </a:p>
        </p:txBody>
      </p:sp>
      <p:sp>
        <p:nvSpPr>
          <p:cNvPr id="15" name="Text 13"/>
          <p:cNvSpPr/>
          <p:nvPr/>
        </p:nvSpPr>
        <p:spPr>
          <a:xfrm>
            <a:off x="1371600" y="5257800"/>
            <a:ext cx="4206240" cy="713232"/>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October produced more applications than any other month. Identify what drove that peak and repeat it deliberately.</a:t>
            </a:r>
            <a:endParaRPr lang="en-US" sz="1150" dirty="0"/>
          </a:p>
        </p:txBody>
      </p:sp>
      <p:sp>
        <p:nvSpPr>
          <p:cNvPr id="16" name="Shape 14"/>
          <p:cNvSpPr/>
          <p:nvPr/>
        </p:nvSpPr>
        <p:spPr>
          <a:xfrm>
            <a:off x="6263640" y="1828800"/>
            <a:ext cx="5074920" cy="4206240"/>
          </a:xfrm>
          <a:prstGeom prst="roundRect">
            <a:avLst>
              <a:gd name="adj" fmla="val 1739"/>
            </a:avLst>
          </a:prstGeom>
          <a:solidFill>
            <a:srgbClr val="0F1B2E"/>
          </a:solidFill>
          <a:ln w="12700">
            <a:solidFill>
              <a:srgbClr val="334155"/>
            </a:solidFill>
            <a:prstDash val="solid"/>
          </a:ln>
        </p:spPr>
        <p:txBody>
          <a:bodyPr/>
          <a:lstStyle/>
          <a:p>
            <a:endParaRPr lang="en-US"/>
          </a:p>
        </p:txBody>
      </p:sp>
      <p:sp>
        <p:nvSpPr>
          <p:cNvPr id="17" name="Text 15"/>
          <p:cNvSpPr/>
          <p:nvPr/>
        </p:nvSpPr>
        <p:spPr>
          <a:xfrm>
            <a:off x="6583680" y="2057400"/>
            <a:ext cx="4389120" cy="256032"/>
          </a:xfrm>
          <a:prstGeom prst="rect">
            <a:avLst/>
          </a:prstGeom>
          <a:noFill/>
          <a:ln/>
        </p:spPr>
        <p:txBody>
          <a:bodyPr wrap="square" lIns="0" tIns="0" rIns="0" bIns="0" rtlCol="0" anchor="ctr"/>
          <a:lstStyle/>
          <a:p>
            <a:pPr marL="0" indent="0">
              <a:buNone/>
            </a:pPr>
            <a:r>
              <a:rPr lang="en-US" sz="1100" b="1" kern="0" spc="150" dirty="0">
                <a:solidFill>
                  <a:srgbClr val="F59E0B"/>
                </a:solidFill>
                <a:latin typeface="Calibri" pitchFamily="34" charset="0"/>
                <a:ea typeface="Calibri" pitchFamily="34" charset="-122"/>
                <a:cs typeface="Calibri" pitchFamily="34" charset="-120"/>
              </a:rPr>
              <a:t>GEOGRAPHY</a:t>
            </a:r>
            <a:endParaRPr lang="en-US" sz="1100" dirty="0"/>
          </a:p>
        </p:txBody>
      </p:sp>
      <p:sp>
        <p:nvSpPr>
          <p:cNvPr id="18" name="Text 16"/>
          <p:cNvSpPr/>
          <p:nvPr/>
        </p:nvSpPr>
        <p:spPr>
          <a:xfrm>
            <a:off x="6583680" y="2340864"/>
            <a:ext cx="443484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Live events create pipeline; absence creates silence</a:t>
            </a:r>
            <a:endParaRPr lang="en-US" sz="1800" dirty="0"/>
          </a:p>
        </p:txBody>
      </p:sp>
      <p:sp>
        <p:nvSpPr>
          <p:cNvPr id="19" name="Shape 17"/>
          <p:cNvSpPr/>
          <p:nvPr/>
        </p:nvSpPr>
        <p:spPr>
          <a:xfrm>
            <a:off x="6583680" y="3072384"/>
            <a:ext cx="109728" cy="109728"/>
          </a:xfrm>
          <a:prstGeom prst="ellipse">
            <a:avLst/>
          </a:prstGeom>
          <a:solidFill>
            <a:srgbClr val="F59E0B"/>
          </a:solidFill>
          <a:ln w="12700">
            <a:solidFill>
              <a:srgbClr val="333333"/>
            </a:solidFill>
            <a:prstDash val="solid"/>
          </a:ln>
        </p:spPr>
        <p:txBody>
          <a:bodyPr/>
          <a:lstStyle/>
          <a:p>
            <a:endParaRPr lang="en-US"/>
          </a:p>
        </p:txBody>
      </p:sp>
      <p:sp>
        <p:nvSpPr>
          <p:cNvPr id="20" name="Text 18"/>
          <p:cNvSpPr/>
          <p:nvPr/>
        </p:nvSpPr>
        <p:spPr>
          <a:xfrm>
            <a:off x="6812280" y="2980944"/>
            <a:ext cx="4206240" cy="713232"/>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Gauteng, the Western Cape and Limpopo dominate the pool — the same three provinces that hosted in-person events in 2023 and 2024.</a:t>
            </a:r>
            <a:endParaRPr lang="en-US" sz="1150" dirty="0"/>
          </a:p>
        </p:txBody>
      </p:sp>
      <p:sp>
        <p:nvSpPr>
          <p:cNvPr id="21" name="Shape 19"/>
          <p:cNvSpPr/>
          <p:nvPr/>
        </p:nvSpPr>
        <p:spPr>
          <a:xfrm>
            <a:off x="6583680" y="3831336"/>
            <a:ext cx="109728" cy="109728"/>
          </a:xfrm>
          <a:prstGeom prst="ellipse">
            <a:avLst/>
          </a:prstGeom>
          <a:solidFill>
            <a:srgbClr val="F59E0B"/>
          </a:solidFill>
          <a:ln w="12700">
            <a:solidFill>
              <a:srgbClr val="333333"/>
            </a:solidFill>
            <a:prstDash val="solid"/>
          </a:ln>
        </p:spPr>
        <p:txBody>
          <a:bodyPr/>
          <a:lstStyle/>
          <a:p>
            <a:endParaRPr lang="en-US"/>
          </a:p>
        </p:txBody>
      </p:sp>
      <p:sp>
        <p:nvSpPr>
          <p:cNvPr id="22" name="Text 20"/>
          <p:cNvSpPr/>
          <p:nvPr/>
        </p:nvSpPr>
        <p:spPr>
          <a:xfrm>
            <a:off x="6812280" y="3739896"/>
            <a:ext cx="4206240" cy="713232"/>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Six provinces barely register. There are eligible businesses there; no one has been to find them.</a:t>
            </a:r>
            <a:endParaRPr lang="en-US" sz="1150" dirty="0"/>
          </a:p>
        </p:txBody>
      </p:sp>
      <p:sp>
        <p:nvSpPr>
          <p:cNvPr id="23" name="Shape 21"/>
          <p:cNvSpPr/>
          <p:nvPr/>
        </p:nvSpPr>
        <p:spPr>
          <a:xfrm>
            <a:off x="6583680" y="4590288"/>
            <a:ext cx="109728" cy="109728"/>
          </a:xfrm>
          <a:prstGeom prst="ellipse">
            <a:avLst/>
          </a:prstGeom>
          <a:solidFill>
            <a:srgbClr val="F59E0B"/>
          </a:solidFill>
          <a:ln w="12700">
            <a:solidFill>
              <a:srgbClr val="333333"/>
            </a:solidFill>
            <a:prstDash val="solid"/>
          </a:ln>
        </p:spPr>
        <p:txBody>
          <a:bodyPr/>
          <a:lstStyle/>
          <a:p>
            <a:endParaRPr lang="en-US"/>
          </a:p>
        </p:txBody>
      </p:sp>
      <p:sp>
        <p:nvSpPr>
          <p:cNvPr id="24" name="Text 22"/>
          <p:cNvSpPr/>
          <p:nvPr/>
        </p:nvSpPr>
        <p:spPr>
          <a:xfrm>
            <a:off x="6812280" y="4498848"/>
            <a:ext cx="4206240" cy="713232"/>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Run the next round's events in two under-represented provinces and measure application lift against the current baseline. That is a controlled, defensible test.</a:t>
            </a:r>
            <a:endParaRPr lang="en-US" sz="1150" dirty="0"/>
          </a:p>
        </p:txBody>
      </p:sp>
      <p:sp>
        <p:nvSpPr>
          <p:cNvPr id="25" name="Shape 23"/>
          <p:cNvSpPr/>
          <p:nvPr/>
        </p:nvSpPr>
        <p:spPr>
          <a:xfrm>
            <a:off x="6583680" y="5349240"/>
            <a:ext cx="109728" cy="109728"/>
          </a:xfrm>
          <a:prstGeom prst="ellipse">
            <a:avLst/>
          </a:prstGeom>
          <a:solidFill>
            <a:srgbClr val="F59E0B"/>
          </a:solidFill>
          <a:ln w="12700">
            <a:solidFill>
              <a:srgbClr val="333333"/>
            </a:solidFill>
            <a:prstDash val="solid"/>
          </a:ln>
        </p:spPr>
        <p:txBody>
          <a:bodyPr/>
          <a:lstStyle/>
          <a:p>
            <a:endParaRPr lang="en-US"/>
          </a:p>
        </p:txBody>
      </p:sp>
      <p:sp>
        <p:nvSpPr>
          <p:cNvPr id="26" name="Text 24"/>
          <p:cNvSpPr/>
          <p:nvPr/>
        </p:nvSpPr>
        <p:spPr>
          <a:xfrm>
            <a:off x="6812280" y="5257800"/>
            <a:ext cx="4206240" cy="713232"/>
          </a:xfrm>
          <a:prstGeom prst="rect">
            <a:avLst/>
          </a:prstGeom>
          <a:noFill/>
          <a:ln/>
        </p:spPr>
        <p:txBody>
          <a:bodyPr wrap="square" lIns="0" tIns="0" rIns="0" bIns="0" rtlCol="0" anchor="t"/>
          <a:lstStyle/>
          <a:p>
            <a:pPr marL="0" indent="0">
              <a:lnSpc>
                <a:spcPts val="1500"/>
              </a:lnSpc>
              <a:buNone/>
            </a:pPr>
            <a:r>
              <a:rPr lang="en-US" sz="1150" dirty="0">
                <a:solidFill>
                  <a:srgbClr val="CBD5E1"/>
                </a:solidFill>
                <a:latin typeface="Calibri" pitchFamily="34" charset="0"/>
                <a:ea typeface="Calibri" pitchFamily="34" charset="-122"/>
                <a:cs typeface="Calibri" pitchFamily="34" charset="-120"/>
              </a:rPr>
              <a:t>Disability ownership sits at 4.8% pool-wide, the only weak transformation dimension. Build targeted outreach into the next round.</a:t>
            </a:r>
            <a:endParaRPr lang="en-US" sz="1150" dirty="0"/>
          </a:p>
        </p:txBody>
      </p:sp>
      <p:sp>
        <p:nvSpPr>
          <p:cNvPr id="27" name="Text 25"/>
          <p:cNvSpPr/>
          <p:nvPr/>
        </p:nvSpPr>
        <p:spPr>
          <a:xfrm>
            <a:off x="822960" y="6172200"/>
            <a:ext cx="10515600" cy="365760"/>
          </a:xfrm>
          <a:prstGeom prst="rect">
            <a:avLst/>
          </a:prstGeom>
          <a:noFill/>
          <a:ln/>
        </p:spPr>
        <p:txBody>
          <a:bodyPr wrap="square" lIns="0" tIns="0" rIns="0" bIns="0" rtlCol="0" anchor="ctr"/>
          <a:lstStyle/>
          <a:p>
            <a:pPr marL="0" indent="0">
              <a:buNone/>
            </a:pPr>
            <a:r>
              <a:rPr lang="en-US" sz="1200" i="1" dirty="0">
                <a:solidFill>
                  <a:srgbClr val="94A3B8"/>
                </a:solidFill>
                <a:latin typeface="Calibri" pitchFamily="34" charset="0"/>
                <a:ea typeface="Calibri" pitchFamily="34" charset="-122"/>
                <a:cs typeface="Calibri" pitchFamily="34" charset="-120"/>
              </a:rPr>
              <a:t>The campaign has already proved it can attract quality. It attracts that quality steadily but locally — so match as you go, and run the next round somewhere new.</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93B"/>
        </a:solidFill>
        <a:effectLst/>
      </p:bgPr>
    </p:bg>
    <p:spTree>
      <p:nvGrpSpPr>
        <p:cNvPr id="1" name=""/>
        <p:cNvGrpSpPr/>
        <p:nvPr/>
      </p:nvGrpSpPr>
      <p:grpSpPr>
        <a:xfrm>
          <a:off x="0" y="0"/>
          <a:ext cx="0" cy="0"/>
          <a:chOff x="0" y="0"/>
          <a:chExt cx="0" cy="0"/>
        </a:xfrm>
      </p:grpSpPr>
      <p:sp>
        <p:nvSpPr>
          <p:cNvPr id="2" name="Text 0"/>
          <p:cNvSpPr/>
          <p:nvPr/>
        </p:nvSpPr>
        <p:spPr>
          <a:xfrm>
            <a:off x="822960" y="502920"/>
            <a:ext cx="10515600" cy="292608"/>
          </a:xfrm>
          <a:prstGeom prst="rect">
            <a:avLst/>
          </a:prstGeom>
          <a:noFill/>
          <a:ln/>
        </p:spPr>
        <p:txBody>
          <a:bodyPr wrap="square" lIns="0" tIns="0" rIns="0" bIns="0" rtlCol="0" anchor="ctr"/>
          <a:lstStyle/>
          <a:p>
            <a:pPr marL="0" indent="0">
              <a:buNone/>
            </a:pPr>
            <a:r>
              <a:rPr lang="en-US" sz="1200" b="1" kern="0" spc="250" dirty="0">
                <a:solidFill>
                  <a:srgbClr val="2DD4BF"/>
                </a:solidFill>
                <a:latin typeface="Calibri" pitchFamily="34" charset="0"/>
                <a:ea typeface="Calibri" pitchFamily="34" charset="-122"/>
                <a:cs typeface="Calibri" pitchFamily="34" charset="-120"/>
              </a:rPr>
              <a:t>FOR CAPITAL PARTNERS</a:t>
            </a:r>
            <a:endParaRPr lang="en-US" sz="1200" dirty="0"/>
          </a:p>
        </p:txBody>
      </p:sp>
      <p:sp>
        <p:nvSpPr>
          <p:cNvPr id="3" name="Text 1"/>
          <p:cNvSpPr/>
          <p:nvPr/>
        </p:nvSpPr>
        <p:spPr>
          <a:xfrm>
            <a:off x="822960" y="822960"/>
            <a:ext cx="10515600" cy="64008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The investment case</a:t>
            </a:r>
            <a:endParaRPr lang="en-US" sz="3600" dirty="0"/>
          </a:p>
        </p:txBody>
      </p:sp>
      <p:sp>
        <p:nvSpPr>
          <p:cNvPr id="4" name="Text 2"/>
          <p:cNvSpPr/>
          <p:nvPr/>
        </p:nvSpPr>
        <p:spPr>
          <a:xfrm>
            <a:off x="822960" y="1508760"/>
            <a:ext cx="10058400" cy="457200"/>
          </a:xfrm>
          <a:prstGeom prst="rect">
            <a:avLst/>
          </a:prstGeom>
          <a:noFill/>
          <a:ln/>
        </p:spPr>
        <p:txBody>
          <a:bodyPr wrap="square" lIns="0" tIns="0" rIns="0" bIns="0" rtlCol="0" anchor="ctr"/>
          <a:lstStyle/>
          <a:p>
            <a:pPr marL="0" indent="0">
              <a:lnSpc>
                <a:spcPts val="2000"/>
              </a:lnSpc>
              <a:buNone/>
            </a:pPr>
            <a:r>
              <a:rPr lang="en-US" sz="1500" dirty="0">
                <a:solidFill>
                  <a:srgbClr val="94A3B8"/>
                </a:solidFill>
                <a:latin typeface="Calibri" pitchFamily="34" charset="0"/>
                <a:ea typeface="Calibri" pitchFamily="34" charset="-122"/>
                <a:cs typeface="Calibri" pitchFamily="34" charset="-120"/>
              </a:rPr>
              <a:t>A quantified, transformation-strong pipeline of 1,116 businesses — already sorted, so capital can be deployed against a mandate instead of a mailbox.</a:t>
            </a:r>
            <a:endParaRPr lang="en-US" sz="1500" dirty="0"/>
          </a:p>
        </p:txBody>
      </p:sp>
      <p:sp>
        <p:nvSpPr>
          <p:cNvPr id="5" name="Shape 3"/>
          <p:cNvSpPr/>
          <p:nvPr/>
        </p:nvSpPr>
        <p:spPr>
          <a:xfrm>
            <a:off x="822960" y="2194560"/>
            <a:ext cx="3429000" cy="2880360"/>
          </a:xfrm>
          <a:prstGeom prst="roundRect">
            <a:avLst>
              <a:gd name="adj" fmla="val 2540"/>
            </a:avLst>
          </a:prstGeom>
          <a:solidFill>
            <a:srgbClr val="0F1B2E"/>
          </a:solidFill>
          <a:ln w="12700">
            <a:solidFill>
              <a:srgbClr val="334155"/>
            </a:solidFill>
            <a:prstDash val="solid"/>
          </a:ln>
        </p:spPr>
        <p:txBody>
          <a:bodyPr/>
          <a:lstStyle/>
          <a:p>
            <a:endParaRPr lang="en-US"/>
          </a:p>
        </p:txBody>
      </p:sp>
      <p:sp>
        <p:nvSpPr>
          <p:cNvPr id="6" name="Text 4"/>
          <p:cNvSpPr/>
          <p:nvPr/>
        </p:nvSpPr>
        <p:spPr>
          <a:xfrm>
            <a:off x="1143000" y="2395728"/>
            <a:ext cx="2834640" cy="274320"/>
          </a:xfrm>
          <a:prstGeom prst="rect">
            <a:avLst/>
          </a:prstGeom>
          <a:noFill/>
          <a:ln/>
        </p:spPr>
        <p:txBody>
          <a:bodyPr wrap="square" lIns="0" tIns="0" rIns="0" bIns="0" rtlCol="0" anchor="ctr"/>
          <a:lstStyle/>
          <a:p>
            <a:pPr marL="0" indent="0">
              <a:buNone/>
            </a:pPr>
            <a:r>
              <a:rPr lang="en-US" sz="1150" b="1" kern="0" spc="120" dirty="0">
                <a:solidFill>
                  <a:srgbClr val="2DD4BF"/>
                </a:solidFill>
                <a:latin typeface="Calibri" pitchFamily="34" charset="0"/>
                <a:ea typeface="Calibri" pitchFamily="34" charset="-122"/>
                <a:cs typeface="Calibri" pitchFamily="34" charset="-120"/>
              </a:rPr>
              <a:t>IF YOU WANT LOW RISK</a:t>
            </a:r>
            <a:endParaRPr lang="en-US" sz="1150" dirty="0"/>
          </a:p>
        </p:txBody>
      </p:sp>
      <p:sp>
        <p:nvSpPr>
          <p:cNvPr id="7" name="Text 5"/>
          <p:cNvSpPr/>
          <p:nvPr/>
        </p:nvSpPr>
        <p:spPr>
          <a:xfrm>
            <a:off x="1143000" y="2697480"/>
            <a:ext cx="283464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245 businesses</a:t>
            </a:r>
            <a:endParaRPr lang="en-US" sz="2200" dirty="0"/>
          </a:p>
        </p:txBody>
      </p:sp>
      <p:sp>
        <p:nvSpPr>
          <p:cNvPr id="8" name="Text 6"/>
          <p:cNvSpPr/>
          <p:nvPr/>
        </p:nvSpPr>
        <p:spPr>
          <a:xfrm>
            <a:off x="1143000" y="3200400"/>
            <a:ext cx="2788920" cy="1371600"/>
          </a:xfrm>
          <a:prstGeom prst="rect">
            <a:avLst/>
          </a:prstGeom>
          <a:noFill/>
          <a:ln/>
        </p:spPr>
        <p:txBody>
          <a:bodyPr wrap="square" lIns="0" tIns="0" rIns="0" bIns="0" rtlCol="0" anchor="t"/>
          <a:lstStyle/>
          <a:p>
            <a:pPr marL="0" indent="0">
              <a:lnSpc>
                <a:spcPts val="1600"/>
              </a:lnSpc>
              <a:buNone/>
            </a:pPr>
            <a:r>
              <a:rPr lang="en-US" sz="1200" dirty="0">
                <a:solidFill>
                  <a:srgbClr val="CBD5E1"/>
                </a:solidFill>
                <a:latin typeface="Calibri" pitchFamily="34" charset="0"/>
                <a:ea typeface="Calibri" pitchFamily="34" charset="-122"/>
                <a:cs typeface="Calibri" pitchFamily="34" charset="-120"/>
              </a:rPr>
              <a:t>R3.24 bn of requests against R4.05 bn of revenue, from employers of 5,690 people. The only cohort in the pool asking for less than it earns, and deployable with no further screening.</a:t>
            </a:r>
            <a:endParaRPr lang="en-US" sz="1200" dirty="0"/>
          </a:p>
        </p:txBody>
      </p:sp>
      <p:sp>
        <p:nvSpPr>
          <p:cNvPr id="9" name="Text 7"/>
          <p:cNvSpPr/>
          <p:nvPr/>
        </p:nvSpPr>
        <p:spPr>
          <a:xfrm>
            <a:off x="1143000" y="4590288"/>
            <a:ext cx="2834640" cy="310896"/>
          </a:xfrm>
          <a:prstGeom prst="rect">
            <a:avLst/>
          </a:prstGeom>
          <a:noFill/>
          <a:ln/>
        </p:spPr>
        <p:txBody>
          <a:bodyPr wrap="square" lIns="0" tIns="0" rIns="0" bIns="0" rtlCol="0" anchor="ctr"/>
          <a:lstStyle/>
          <a:p>
            <a:pPr marL="0" indent="0">
              <a:buNone/>
            </a:pPr>
            <a:r>
              <a:rPr lang="en-US" sz="1300" b="1" dirty="0">
                <a:solidFill>
                  <a:srgbClr val="2DD4BF"/>
                </a:solidFill>
                <a:latin typeface="Calibri" pitchFamily="34" charset="0"/>
                <a:ea typeface="Calibri" pitchFamily="34" charset="-122"/>
                <a:cs typeface="Calibri" pitchFamily="34" charset="-120"/>
              </a:rPr>
              <a:t>0.80× ask-to-revenue</a:t>
            </a:r>
            <a:endParaRPr lang="en-US" sz="1300" dirty="0"/>
          </a:p>
        </p:txBody>
      </p:sp>
      <p:sp>
        <p:nvSpPr>
          <p:cNvPr id="10" name="Shape 8"/>
          <p:cNvSpPr/>
          <p:nvPr/>
        </p:nvSpPr>
        <p:spPr>
          <a:xfrm>
            <a:off x="4617720" y="2194560"/>
            <a:ext cx="3429000" cy="2880360"/>
          </a:xfrm>
          <a:prstGeom prst="roundRect">
            <a:avLst>
              <a:gd name="adj" fmla="val 2540"/>
            </a:avLst>
          </a:prstGeom>
          <a:solidFill>
            <a:srgbClr val="0F1B2E"/>
          </a:solidFill>
          <a:ln w="12700">
            <a:solidFill>
              <a:srgbClr val="334155"/>
            </a:solidFill>
            <a:prstDash val="solid"/>
          </a:ln>
        </p:spPr>
        <p:txBody>
          <a:bodyPr/>
          <a:lstStyle/>
          <a:p>
            <a:endParaRPr lang="en-US"/>
          </a:p>
        </p:txBody>
      </p:sp>
      <p:sp>
        <p:nvSpPr>
          <p:cNvPr id="11" name="Text 9"/>
          <p:cNvSpPr/>
          <p:nvPr/>
        </p:nvSpPr>
        <p:spPr>
          <a:xfrm>
            <a:off x="4937760" y="2395728"/>
            <a:ext cx="2834640" cy="274320"/>
          </a:xfrm>
          <a:prstGeom prst="rect">
            <a:avLst/>
          </a:prstGeom>
          <a:noFill/>
          <a:ln/>
        </p:spPr>
        <p:txBody>
          <a:bodyPr wrap="square" lIns="0" tIns="0" rIns="0" bIns="0" rtlCol="0" anchor="ctr"/>
          <a:lstStyle/>
          <a:p>
            <a:pPr marL="0" indent="0">
              <a:buNone/>
            </a:pPr>
            <a:r>
              <a:rPr lang="en-US" sz="1150" b="1" kern="0" spc="120" dirty="0">
                <a:solidFill>
                  <a:srgbClr val="F59E0B"/>
                </a:solidFill>
                <a:latin typeface="Calibri" pitchFamily="34" charset="0"/>
                <a:ea typeface="Calibri" pitchFamily="34" charset="-122"/>
                <a:cs typeface="Calibri" pitchFamily="34" charset="-120"/>
              </a:rPr>
              <a:t>IF YOU WANT JOBS</a:t>
            </a:r>
            <a:endParaRPr lang="en-US" sz="1150" dirty="0"/>
          </a:p>
        </p:txBody>
      </p:sp>
      <p:sp>
        <p:nvSpPr>
          <p:cNvPr id="12" name="Text 10"/>
          <p:cNvSpPr/>
          <p:nvPr/>
        </p:nvSpPr>
        <p:spPr>
          <a:xfrm>
            <a:off x="4937760" y="2697480"/>
            <a:ext cx="283464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595 businesses</a:t>
            </a:r>
            <a:endParaRPr lang="en-US" sz="2200" dirty="0"/>
          </a:p>
        </p:txBody>
      </p:sp>
      <p:sp>
        <p:nvSpPr>
          <p:cNvPr id="13" name="Text 11"/>
          <p:cNvSpPr/>
          <p:nvPr/>
        </p:nvSpPr>
        <p:spPr>
          <a:xfrm>
            <a:off x="4937760" y="3200400"/>
            <a:ext cx="2788920" cy="1371600"/>
          </a:xfrm>
          <a:prstGeom prst="rect">
            <a:avLst/>
          </a:prstGeom>
          <a:noFill/>
          <a:ln/>
        </p:spPr>
        <p:txBody>
          <a:bodyPr wrap="square" lIns="0" tIns="0" rIns="0" bIns="0" rtlCol="0" anchor="t"/>
          <a:lstStyle/>
          <a:p>
            <a:pPr marL="0" indent="0">
              <a:lnSpc>
                <a:spcPts val="1600"/>
              </a:lnSpc>
              <a:buNone/>
            </a:pPr>
            <a:r>
              <a:rPr lang="en-US" sz="1200" dirty="0">
                <a:solidFill>
                  <a:srgbClr val="CBD5E1"/>
                </a:solidFill>
                <a:latin typeface="Calibri" pitchFamily="34" charset="0"/>
                <a:ea typeface="Calibri" pitchFamily="34" charset="-122"/>
                <a:cs typeface="Calibri" pitchFamily="34" charset="-120"/>
              </a:rPr>
              <a:t>11,751 promised jobs — the largest of any tier — from genuine trading businesses making proportionate asks, at the most efficient capital-to-jobs ratio in the pipeline.</a:t>
            </a:r>
            <a:endParaRPr lang="en-US" sz="1200" dirty="0"/>
          </a:p>
        </p:txBody>
      </p:sp>
      <p:sp>
        <p:nvSpPr>
          <p:cNvPr id="14" name="Text 12"/>
          <p:cNvSpPr/>
          <p:nvPr/>
        </p:nvSpPr>
        <p:spPr>
          <a:xfrm>
            <a:off x="4937760" y="4590288"/>
            <a:ext cx="2834640" cy="310896"/>
          </a:xfrm>
          <a:prstGeom prst="rect">
            <a:avLst/>
          </a:prstGeom>
          <a:noFill/>
          <a:ln/>
        </p:spPr>
        <p:txBody>
          <a:bodyPr wrap="square" lIns="0" tIns="0" rIns="0" bIns="0" rtlCol="0" anchor="ctr"/>
          <a:lstStyle/>
          <a:p>
            <a:pPr marL="0" indent="0">
              <a:buNone/>
            </a:pPr>
            <a:r>
              <a:rPr lang="en-US" sz="1300" b="1" dirty="0">
                <a:solidFill>
                  <a:srgbClr val="F59E0B"/>
                </a:solidFill>
                <a:latin typeface="Calibri" pitchFamily="34" charset="0"/>
                <a:ea typeface="Calibri" pitchFamily="34" charset="-122"/>
                <a:cs typeface="Calibri" pitchFamily="34" charset="-120"/>
              </a:rPr>
              <a:t>R226k of ask per promised job</a:t>
            </a:r>
            <a:endParaRPr lang="en-US" sz="1300" dirty="0"/>
          </a:p>
        </p:txBody>
      </p:sp>
      <p:sp>
        <p:nvSpPr>
          <p:cNvPr id="15" name="Shape 13"/>
          <p:cNvSpPr/>
          <p:nvPr/>
        </p:nvSpPr>
        <p:spPr>
          <a:xfrm>
            <a:off x="8412480" y="2194560"/>
            <a:ext cx="3429000" cy="2880360"/>
          </a:xfrm>
          <a:prstGeom prst="roundRect">
            <a:avLst>
              <a:gd name="adj" fmla="val 2540"/>
            </a:avLst>
          </a:prstGeom>
          <a:solidFill>
            <a:srgbClr val="0F1B2E"/>
          </a:solidFill>
          <a:ln w="12700">
            <a:solidFill>
              <a:srgbClr val="334155"/>
            </a:solidFill>
            <a:prstDash val="solid"/>
          </a:ln>
        </p:spPr>
        <p:txBody>
          <a:bodyPr/>
          <a:lstStyle/>
          <a:p>
            <a:endParaRPr lang="en-US"/>
          </a:p>
        </p:txBody>
      </p:sp>
      <p:sp>
        <p:nvSpPr>
          <p:cNvPr id="16" name="Text 14"/>
          <p:cNvSpPr/>
          <p:nvPr/>
        </p:nvSpPr>
        <p:spPr>
          <a:xfrm>
            <a:off x="8732520" y="2395728"/>
            <a:ext cx="2834640" cy="274320"/>
          </a:xfrm>
          <a:prstGeom prst="rect">
            <a:avLst/>
          </a:prstGeom>
          <a:noFill/>
          <a:ln/>
        </p:spPr>
        <p:txBody>
          <a:bodyPr wrap="square" lIns="0" tIns="0" rIns="0" bIns="0" rtlCol="0" anchor="ctr"/>
          <a:lstStyle/>
          <a:p>
            <a:pPr marL="0" indent="0">
              <a:buNone/>
            </a:pPr>
            <a:r>
              <a:rPr lang="en-US" sz="1150" b="1" kern="0" spc="120" dirty="0">
                <a:solidFill>
                  <a:srgbClr val="F87171"/>
                </a:solidFill>
                <a:latin typeface="Calibri" pitchFamily="34" charset="0"/>
                <a:ea typeface="Calibri" pitchFamily="34" charset="-122"/>
                <a:cs typeface="Calibri" pitchFamily="34" charset="-120"/>
              </a:rPr>
              <a:t>IF YOU WANT IMPACT DEPTH</a:t>
            </a:r>
            <a:endParaRPr lang="en-US" sz="1150" dirty="0"/>
          </a:p>
        </p:txBody>
      </p:sp>
      <p:sp>
        <p:nvSpPr>
          <p:cNvPr id="17" name="Text 15"/>
          <p:cNvSpPr/>
          <p:nvPr/>
        </p:nvSpPr>
        <p:spPr>
          <a:xfrm>
            <a:off x="8732520" y="2697480"/>
            <a:ext cx="283464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276 businesses</a:t>
            </a:r>
            <a:endParaRPr lang="en-US" sz="2200" dirty="0"/>
          </a:p>
        </p:txBody>
      </p:sp>
      <p:sp>
        <p:nvSpPr>
          <p:cNvPr id="18" name="Text 16"/>
          <p:cNvSpPr/>
          <p:nvPr/>
        </p:nvSpPr>
        <p:spPr>
          <a:xfrm>
            <a:off x="8732520" y="3200400"/>
            <a:ext cx="2788920" cy="1371600"/>
          </a:xfrm>
          <a:prstGeom prst="rect">
            <a:avLst/>
          </a:prstGeom>
          <a:noFill/>
          <a:ln/>
        </p:spPr>
        <p:txBody>
          <a:bodyPr wrap="square" lIns="0" tIns="0" rIns="0" bIns="0" rtlCol="0" anchor="t"/>
          <a:lstStyle/>
          <a:p>
            <a:pPr marL="0" indent="0">
              <a:lnSpc>
                <a:spcPts val="1600"/>
              </a:lnSpc>
              <a:buNone/>
            </a:pPr>
            <a:r>
              <a:rPr lang="en-US" sz="1200" dirty="0">
                <a:solidFill>
                  <a:srgbClr val="CBD5E1"/>
                </a:solidFill>
                <a:latin typeface="Calibri" pitchFamily="34" charset="0"/>
                <a:ea typeface="Calibri" pitchFamily="34" charset="-122"/>
                <a:cs typeface="Calibri" pitchFamily="34" charset="-120"/>
              </a:rPr>
              <a:t>The youngest and most youth-owned cohort in the pool. Requires development capital and patience rather than growth funding, and builds the deal flow for future rounds.</a:t>
            </a:r>
            <a:endParaRPr lang="en-US" sz="1200" dirty="0"/>
          </a:p>
        </p:txBody>
      </p:sp>
      <p:sp>
        <p:nvSpPr>
          <p:cNvPr id="19" name="Text 17"/>
          <p:cNvSpPr/>
          <p:nvPr/>
        </p:nvSpPr>
        <p:spPr>
          <a:xfrm>
            <a:off x="8732520" y="4590288"/>
            <a:ext cx="2834640" cy="310896"/>
          </a:xfrm>
          <a:prstGeom prst="rect">
            <a:avLst/>
          </a:prstGeom>
          <a:noFill/>
          <a:ln/>
        </p:spPr>
        <p:txBody>
          <a:bodyPr wrap="square" lIns="0" tIns="0" rIns="0" bIns="0" rtlCol="0" anchor="ctr"/>
          <a:lstStyle/>
          <a:p>
            <a:pPr marL="0" indent="0">
              <a:buNone/>
            </a:pPr>
            <a:r>
              <a:rPr lang="en-US" sz="1300" b="1" dirty="0">
                <a:solidFill>
                  <a:srgbClr val="F87171"/>
                </a:solidFill>
                <a:latin typeface="Calibri" pitchFamily="34" charset="0"/>
                <a:ea typeface="Calibri" pitchFamily="34" charset="-122"/>
                <a:cs typeface="Calibri" pitchFamily="34" charset="-120"/>
              </a:rPr>
              <a:t>46.4% youth ownership</a:t>
            </a:r>
            <a:endParaRPr lang="en-US" sz="1300" dirty="0"/>
          </a:p>
        </p:txBody>
      </p:sp>
      <p:sp>
        <p:nvSpPr>
          <p:cNvPr id="20" name="Shape 18"/>
          <p:cNvSpPr/>
          <p:nvPr/>
        </p:nvSpPr>
        <p:spPr>
          <a:xfrm>
            <a:off x="822960" y="5349240"/>
            <a:ext cx="10515600" cy="777240"/>
          </a:xfrm>
          <a:prstGeom prst="roundRect">
            <a:avLst>
              <a:gd name="adj" fmla="val 9412"/>
            </a:avLst>
          </a:prstGeom>
          <a:solidFill>
            <a:srgbClr val="16233A"/>
          </a:solidFill>
          <a:ln w="12700">
            <a:solidFill>
              <a:srgbClr val="2DD4BF"/>
            </a:solidFill>
            <a:prstDash val="solid"/>
          </a:ln>
        </p:spPr>
        <p:txBody>
          <a:bodyPr/>
          <a:lstStyle/>
          <a:p>
            <a:endParaRPr lang="en-US"/>
          </a:p>
        </p:txBody>
      </p:sp>
      <p:sp>
        <p:nvSpPr>
          <p:cNvPr id="21" name="Text 19"/>
          <p:cNvSpPr/>
          <p:nvPr/>
        </p:nvSpPr>
        <p:spPr>
          <a:xfrm>
            <a:off x="1143000" y="5513832"/>
            <a:ext cx="9875520" cy="457200"/>
          </a:xfrm>
          <a:prstGeom prst="rect">
            <a:avLst/>
          </a:prstGeom>
          <a:noFill/>
          <a:ln/>
        </p:spPr>
        <p:txBody>
          <a:bodyPr wrap="square" lIns="0" tIns="0" rIns="0" bIns="0" rtlCol="0" anchor="ctr"/>
          <a:lstStyle/>
          <a:p>
            <a:pPr marL="0" indent="0">
              <a:buNone/>
            </a:pPr>
            <a:r>
              <a:rPr lang="en-US" sz="1350" dirty="0">
                <a:solidFill>
                  <a:srgbClr val="FFFFFF"/>
                </a:solidFill>
                <a:latin typeface="Calibri" pitchFamily="34" charset="0"/>
                <a:ea typeface="Calibri" pitchFamily="34" charset="-122"/>
                <a:cs typeface="Calibri" pitchFamily="34" charset="-120"/>
              </a:rPr>
              <a:t>Across all three tiers: 91.6% average Black ownership, 46.7% women ownership, and 26,506 jobs promised against 9,049 already created.</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TotalTime>
  <Words>2527</Words>
  <Application>Microsoft Office PowerPoint</Application>
  <PresentationFormat>Widescreen</PresentationFormat>
  <Paragraphs>273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JSE SME Capital Matching - Funding Readiness Insights</dc:title>
  <dc:subject>PptxGenJS Presentation</dc:subject>
  <dc:creator>Ndivhuwo Makhavhu</dc:creator>
  <cp:lastModifiedBy>Ndivhuwo Makhavhu</cp:lastModifiedBy>
  <cp:revision>1</cp:revision>
  <dcterms:created xsi:type="dcterms:W3CDTF">2026-07-27T18:48:20Z</dcterms:created>
  <dcterms:modified xsi:type="dcterms:W3CDTF">2026-07-27T21:11:47Z</dcterms:modified>
</cp:coreProperties>
</file>